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2ca45734834700" /><Relationship Type="http://schemas.openxmlformats.org/officeDocument/2006/relationships/extended-properties" Target="/docProps/app.xml" Id="R634397abd75e4c02" /><Relationship Type="http://schemas.openxmlformats.org/officeDocument/2006/relationships/officeDocument" Target="/ppt/presentation.xml" Id="Rbc84f6078d9a4c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8d92b515ad46da"/>
  </p:sldMasterIdLst>
  <p:notesMasterIdLst>
    <p:notesMasterId xmlns:r="http://schemas.openxmlformats.org/officeDocument/2006/relationships" r:id="R56c229d1bd504b97"/>
  </p:notesMasterIdLst>
  <p:sldIdLst>
    <p:sldId xmlns:r="http://schemas.openxmlformats.org/officeDocument/2006/relationships" id="256" r:id="R6f792d065d414e40"/>
    <p:sldId xmlns:r="http://schemas.openxmlformats.org/officeDocument/2006/relationships" id="257" r:id="R6c0404b24c7d48ed"/>
    <p:sldId xmlns:r="http://schemas.openxmlformats.org/officeDocument/2006/relationships" id="258" r:id="Rd368a3379ef14ca9"/>
    <p:sldId xmlns:r="http://schemas.openxmlformats.org/officeDocument/2006/relationships" id="259" r:id="R256718a31fbe4646"/>
    <p:sldId xmlns:r="http://schemas.openxmlformats.org/officeDocument/2006/relationships" id="260" r:id="R99ebfd8050a24c69"/>
    <p:sldId xmlns:r="http://schemas.openxmlformats.org/officeDocument/2006/relationships" id="261" r:id="Rbd686338ad5a4f33"/>
    <p:sldId xmlns:r="http://schemas.openxmlformats.org/officeDocument/2006/relationships" id="262" r:id="R6854822c7fc94af3"/>
    <p:sldId xmlns:r="http://schemas.openxmlformats.org/officeDocument/2006/relationships" id="263" r:id="R574d1d5bd2bb4f11"/>
    <p:sldId xmlns:r="http://schemas.openxmlformats.org/officeDocument/2006/relationships" id="264" r:id="R70d3735778864fd0"/>
    <p:sldId xmlns:r="http://schemas.openxmlformats.org/officeDocument/2006/relationships" id="265" r:id="R97cd15cca4b440cf"/>
    <p:sldId xmlns:r="http://schemas.openxmlformats.org/officeDocument/2006/relationships" id="266" r:id="R48e45510d9dc4786"/>
    <p:sldId xmlns:r="http://schemas.openxmlformats.org/officeDocument/2006/relationships" id="267" r:id="R3096aea0ac954139"/>
    <p:sldId xmlns:r="http://schemas.openxmlformats.org/officeDocument/2006/relationships" id="268" r:id="R4a4684959cd94b32"/>
    <p:sldId xmlns:r="http://schemas.openxmlformats.org/officeDocument/2006/relationships" id="269" r:id="R4a3fce5cd71047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3d3c0db74d4314" /><Relationship Type="http://schemas.openxmlformats.org/officeDocument/2006/relationships/slideMaster" Target="/ppt/slideMasters/slideMaster1.xml" Id="R6c8d92b515ad46da" /><Relationship Type="http://schemas.openxmlformats.org/officeDocument/2006/relationships/notesMaster" Target="/ppt/notesMasters/notesMaster1.xml" Id="R56c229d1bd504b97" /><Relationship Type="http://schemas.openxmlformats.org/officeDocument/2006/relationships/presProps" Target="/ppt/presProps.xml" Id="Rfb18822dd5494515" /><Relationship Type="http://schemas.openxmlformats.org/officeDocument/2006/relationships/tableStyles" Target="/ppt/tableStyles.xml" Id="R5a6e1e8a31d74993" /><Relationship Type="http://schemas.openxmlformats.org/officeDocument/2006/relationships/slide" Target="/ppt/slides/slide1.xml" Id="R6f792d065d414e40" /><Relationship Type="http://schemas.openxmlformats.org/officeDocument/2006/relationships/slide" Target="/ppt/slides/slide2.xml" Id="R6c0404b24c7d48ed" /><Relationship Type="http://schemas.openxmlformats.org/officeDocument/2006/relationships/slide" Target="/ppt/slides/slide3.xml" Id="Rd368a3379ef14ca9" /><Relationship Type="http://schemas.openxmlformats.org/officeDocument/2006/relationships/slide" Target="/ppt/slides/slide4.xml" Id="R256718a31fbe4646" /><Relationship Type="http://schemas.openxmlformats.org/officeDocument/2006/relationships/slide" Target="/ppt/slides/slide5.xml" Id="R99ebfd8050a24c69" /><Relationship Type="http://schemas.openxmlformats.org/officeDocument/2006/relationships/slide" Target="/ppt/slides/slide6.xml" Id="Rbd686338ad5a4f33" /><Relationship Type="http://schemas.openxmlformats.org/officeDocument/2006/relationships/slide" Target="/ppt/slides/slide7.xml" Id="R6854822c7fc94af3" /><Relationship Type="http://schemas.openxmlformats.org/officeDocument/2006/relationships/slide" Target="/ppt/slides/slide8.xml" Id="R574d1d5bd2bb4f11" /><Relationship Type="http://schemas.openxmlformats.org/officeDocument/2006/relationships/slide" Target="/ppt/slides/slide9.xml" Id="R70d3735778864fd0" /><Relationship Type="http://schemas.openxmlformats.org/officeDocument/2006/relationships/slide" Target="/ppt/slides/slide10.xml" Id="R97cd15cca4b440cf" /><Relationship Type="http://schemas.openxmlformats.org/officeDocument/2006/relationships/slide" Target="/ppt/slides/slide11.xml" Id="R48e45510d9dc4786" /><Relationship Type="http://schemas.openxmlformats.org/officeDocument/2006/relationships/slide" Target="/ppt/slides/slide12.xml" Id="R3096aea0ac954139" /><Relationship Type="http://schemas.openxmlformats.org/officeDocument/2006/relationships/slide" Target="/ppt/slides/slide13.xml" Id="R4a4684959cd94b32" /><Relationship Type="http://schemas.openxmlformats.org/officeDocument/2006/relationships/slide" Target="/ppt/slides/slide14.xml" Id="R4a3fce5cd71047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ad1fedc0064a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367cac3537406f" /><Relationship Type="http://schemas.openxmlformats.org/officeDocument/2006/relationships/notesMaster" Target="/ppt/notesMasters/notesMaster1.xml" Id="Rf3d220ad80ef41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6485b440774b98" /><Relationship Type="http://schemas.openxmlformats.org/officeDocument/2006/relationships/notesMaster" Target="/ppt/notesMasters/notesMaster1.xml" Id="R7f55d923425845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bc73f25c5343ec" /><Relationship Type="http://schemas.openxmlformats.org/officeDocument/2006/relationships/notesMaster" Target="/ppt/notesMasters/notesMaster1.xml" Id="R0909d535b9b744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fd6757024c4a40" /><Relationship Type="http://schemas.openxmlformats.org/officeDocument/2006/relationships/notesMaster" Target="/ppt/notesMasters/notesMaster1.xml" Id="R6a2d8759aca64b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8b945b9abf467b" /><Relationship Type="http://schemas.openxmlformats.org/officeDocument/2006/relationships/notesMaster" Target="/ppt/notesMasters/notesMaster1.xml" Id="Rf11ff4bc274145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a87d0fe1cd4e6d" /><Relationship Type="http://schemas.openxmlformats.org/officeDocument/2006/relationships/notesMaster" Target="/ppt/notesMasters/notesMaster1.xml" Id="Rf05ca433393248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eac9b6adef49df" /><Relationship Type="http://schemas.openxmlformats.org/officeDocument/2006/relationships/notesMaster" Target="/ppt/notesMasters/notesMaster1.xml" Id="R8b9bacd2994d4a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2966fc8cfd4a1c" /><Relationship Type="http://schemas.openxmlformats.org/officeDocument/2006/relationships/notesMaster" Target="/ppt/notesMasters/notesMaster1.xml" Id="Rc0d4a92b1f164f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fadb77371c46fb" /><Relationship Type="http://schemas.openxmlformats.org/officeDocument/2006/relationships/notesMaster" Target="/ppt/notesMasters/notesMaster1.xml" Id="R1f357bcc5f4f43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9db7ef7f154804" /><Relationship Type="http://schemas.openxmlformats.org/officeDocument/2006/relationships/notesMaster" Target="/ppt/notesMasters/notesMaster1.xml" Id="Rb556a1ca2dda4c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abe45b249844ea" /><Relationship Type="http://schemas.openxmlformats.org/officeDocument/2006/relationships/notesMaster" Target="/ppt/notesMasters/notesMaster1.xml" Id="R88037a8e38c442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0e6082a6a3493a" /><Relationship Type="http://schemas.openxmlformats.org/officeDocument/2006/relationships/notesMaster" Target="/ppt/notesMasters/notesMaster1.xml" Id="R8426dc4058cf48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5bac76704e4d54" /><Relationship Type="http://schemas.openxmlformats.org/officeDocument/2006/relationships/notesMaster" Target="/ppt/notesMasters/notesMaster1.xml" Id="R376f05c289d841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a924549744441c" /><Relationship Type="http://schemas.openxmlformats.org/officeDocument/2006/relationships/notesMaster" Target="/ppt/notesMasters/notesMaster1.xml" Id="R30fd28a5debe4e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and handoff purpose.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House Dark live deployment, version 19: https://opening-night-app.layers188.chatgpt.site</a:t>
            </a:r>
          </a:p>
          <a:p xmlns:a="http://schemas.openxmlformats.org/drawingml/2006/main">
            <a:r>
              <a:t>House Dark brand and product book, Version 1.0,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the deployed Sites preview captured from version 19 on 11 August 2026.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House Dark live deployment, version 19: https://opening-night-app.layers188.chatgpt.site</a:t>
            </a:r>
          </a:p>
          <a:p xmlns:a="http://schemas.openxmlformats.org/drawingml/2006/main">
            <a:r>
              <a:t>House Dark brand and product book, Version 1.0,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of the live mobile shell using deployed colours, typography and copy.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House Dark live deployment, version 19: https://opening-night-app.layers188.chatgpt.site</a:t>
            </a:r>
          </a:p>
          <a:p xmlns:a="http://schemas.openxmlformats.org/drawingml/2006/main">
            <a:r>
              <a:t>House Dark brand and product book, Version 1.0,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Tonight sealed state. Title data stays on the server until the opening completes.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House Dark live deployment, version 19: https://opening-night-app.layers188.chatgpt.site</a:t>
            </a:r>
          </a:p>
          <a:p xmlns:a="http://schemas.openxmlformats.org/drawingml/2006/main">
            <a:r>
              <a:t>House Dark brand and product book, Version 1.0,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of dim, No Trailer and reveal states. A No Trailer lasts 10 to 10.5 seconds and every film uses a distinct material language.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House Dark live deployment, version 19: https://opening-night-app.layers188.chatgpt.site</a:t>
            </a:r>
          </a:p>
          <a:p xmlns:a="http://schemas.openxmlformats.org/drawingml/2006/main">
            <a:r>
              <a:t>House Dark brand and product book, Version 1.0,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Circle For You state, sealed inbox and trusted activity. After Credits remains locked until watching is complete.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House Dark live deployment, version 19: https://opening-night-app.layers188.chatgpt.site</a:t>
            </a:r>
          </a:p>
          <a:p xmlns:a="http://schemas.openxmlformats.org/drawingml/2006/main">
            <a:r>
              <a:t>House Dark brand and product book, Version 1.0,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of the sender flow using live production copy and the approved one friend or whole Circle model.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House Dark live deployment, version 19: https://opening-night-app.layers188.chatgpt.site</a:t>
            </a:r>
          </a:p>
          <a:p xmlns:a="http://schemas.openxmlformats.org/drawingml/2006/main">
            <a:r>
              <a:t>House Dark brand and product book, Version 1.0,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Recipient notification and accepted private opening states. Pre-reveal content remains title free.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House Dark live deployment, version 19: https://opening-night-app.layers188.chatgpt.site</a:t>
            </a:r>
          </a:p>
          <a:p xmlns:a="http://schemas.openxmlformats.org/drawingml/2006/main">
            <a:r>
              <a:t>House Dark brand and product book, Version 1.0,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Library Archive state reconstructed from live copy. Ratings and plot descriptions are deliberately excluded.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House Dark live deployment, version 19: https://opening-night-app.layers188.chatgpt.site</a:t>
            </a:r>
          </a:p>
          <a:p xmlns:a="http://schemas.openxmlformats.org/drawingml/2006/main">
            <a:r>
              <a:t>House Dark brand and product book, Version 1.0,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Programmes state reconstructed from deployed live copy and approved product model.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House Dark live deployment, version 19: https://opening-night-app.layers188.chatgpt.site</a:t>
            </a:r>
          </a:p>
          <a:p xmlns:a="http://schemas.openxmlformats.org/drawingml/2006/main">
            <a:r>
              <a:t>House Dark brand and product book, Version 1.0,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and membership states reconstructed from the deployed production copy.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House Dark live deployment, version 19: https://opening-night-app.layers188.chatgpt.site</a:t>
            </a:r>
          </a:p>
          <a:p xmlns:a="http://schemas.openxmlformats.org/drawingml/2006/main">
            <a:r>
              <a:t>House Dark brand and product book, Version 1.0,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Owner-only programming desk and No Trailer pipeline reconstructed from deployed production copy.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House Dark live deployment, version 19: https://opening-night-app.layers188.chatgpt.site</a:t>
            </a:r>
          </a:p>
          <a:p xmlns:a="http://schemas.openxmlformats.org/drawingml/2006/main">
            <a:r>
              <a:t>House Dark brand and product book, Version 1.0,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colour tokens, approved typography and interaction timings from the House Dark brand system.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House Dark live deployment, version 19: https://opening-night-app.layers188.chatgpt.site</a:t>
            </a:r>
          </a:p>
          <a:p xmlns:a="http://schemas.openxmlformats.org/drawingml/2006/main">
            <a:r>
              <a:t>House Dark brand and product book, Version 1.0,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build rules for another LLM or development team.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House Dark live deployment, version 19: https://opening-night-app.layers188.chatgpt.site</a:t>
            </a:r>
          </a:p>
          <a:p xmlns:a="http://schemas.openxmlformats.org/drawingml/2006/main">
            <a:r>
              <a:t>House Dark brand and product book, Version 1.0,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13c22a39c49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32d961e0a843e4" /><Relationship Type="http://schemas.openxmlformats.org/officeDocument/2006/relationships/slideLayout" Target="/ppt/slideLayouts/slideLayout1.xml" Id="R04cf25fa2fbf46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cf25fa2fbf46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8ab155dae4359" /><Relationship Type="http://schemas.openxmlformats.org/officeDocument/2006/relationships/notesSlide" Target="/ppt/notesSlides/notesSlide1.xml" Id="R661ebc06f44c4f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30aad2bc440ed" /><Relationship Type="http://schemas.openxmlformats.org/officeDocument/2006/relationships/image" Target="/ppt/media/image.jpeg" Id="R498508b178994bd4" /><Relationship Type="http://schemas.openxmlformats.org/officeDocument/2006/relationships/notesSlide" Target="/ppt/notesSlides/notesSlide2.xml" Id="Rbfe96ba3c39547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325c29da54f53" /><Relationship Type="http://schemas.openxmlformats.org/officeDocument/2006/relationships/notesSlide" Target="/ppt/notesSlides/notesSlide3.xml" Id="R5ab8edc2a16f4c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39570169548b4" /><Relationship Type="http://schemas.openxmlformats.org/officeDocument/2006/relationships/notesSlide" Target="/ppt/notesSlides/notesSlide4.xml" Id="R073c791dd29a48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18ed2bd7c4d6b" /><Relationship Type="http://schemas.openxmlformats.org/officeDocument/2006/relationships/notesSlide" Target="/ppt/notesSlides/notesSlide5.xml" Id="R606e9314131740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aa232a6b4470c" /><Relationship Type="http://schemas.openxmlformats.org/officeDocument/2006/relationships/notesSlide" Target="/ppt/notesSlides/notesSlide6.xml" Id="R308dd6a79ad944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5537c2dbe4ada" /><Relationship Type="http://schemas.openxmlformats.org/officeDocument/2006/relationships/notesSlide" Target="/ppt/notesSlides/notesSlide7.xml" Id="Rd5cd30b0312349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e0ff917d144fe" /><Relationship Type="http://schemas.openxmlformats.org/officeDocument/2006/relationships/notesSlide" Target="/ppt/notesSlides/notesSlide8.xml" Id="Rc805c9860b204b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fc76ad0b74b08" /><Relationship Type="http://schemas.openxmlformats.org/officeDocument/2006/relationships/notesSlide" Target="/ppt/notesSlides/notesSlide9.xml" Id="R8d29c3adacb240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108fd03e74e90" /><Relationship Type="http://schemas.openxmlformats.org/officeDocument/2006/relationships/notesSlide" Target="/ppt/notesSlides/notesSlide10.xml" Id="R7b8237429c0949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1f203b68542a2" /><Relationship Type="http://schemas.openxmlformats.org/officeDocument/2006/relationships/notesSlide" Target="/ppt/notesSlides/notesSlide11.xml" Id="Ra7032b30c7834c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c656b91da46cc" /><Relationship Type="http://schemas.openxmlformats.org/officeDocument/2006/relationships/notesSlide" Target="/ppt/notesSlides/notesSlide12.xml" Id="R49747c3ea25b4d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b0a203f8a4a2d" /><Relationship Type="http://schemas.openxmlformats.org/officeDocument/2006/relationships/notesSlide" Target="/ppt/notesSlides/notesSlide13.xml" Id="R2e5559d65aff45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8238229a34bbd" /><Relationship Type="http://schemas.openxmlformats.org/officeDocument/2006/relationships/notesSlide" Target="/ppt/notesSlides/notesSlide14.xml" Id="R0b99caebce2b4b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48C5A3D-A00B-4181-9202-F00EACC8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2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DARK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662E6CA-0991-4813-AC4D-C67214D5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8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050" b="0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rPr>
              <a:t>CURRENT LIVE UI  /  AUGUST 2026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6AAD2EA-AF47-423E-9E25-F3E47B25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A479E16-B992-4D33-8517-91130C0A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6000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UI handoff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5DFA89B-52AD-4C11-9355-C5160C01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950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The live design, product states and build rules for the next LLM.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834E398-8B97-40F6-AC16-579FF167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42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THE BEST FILM EXPERIENCES HAPPEN WHEN YOU KNOW NOTHING.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AAFA563-5347-492F-871E-97EE3CAC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1">
                <a:solidFill>
                  <a:srgbClr val="B9A16C"/>
                </a:solidFill>
                <a:latin typeface="Newsreader"/>
                <a:ea typeface="Newsreader"/>
                <a:cs typeface="Newsreader"/>
              </a:defRPr>
            </a:pPr>
            <a:r>
              <a:rPr sz="1650" b="0" i="1">
                <a:solidFill>
                  <a:srgbClr val="B9A16C"/>
                </a:solidFill>
                <a:latin typeface="Newsreader"/>
                <a:ea typeface="Newsreader"/>
                <a:cs typeface="Newsreader"/>
              </a:rPr>
              <a:t>This documents the current system. It is not a redesign brief.</a:t>
            </a:r>
          </a:p>
        </p:txBody>
      </p:sp>
    </p:spTree>
    <p:extLst>
      <p:ext uri="{BB962C8B-B14F-4D97-AF65-F5344CB8AC3E}">
        <p14:creationId xmlns:p14="http://schemas.microsoft.com/office/powerpoint/2010/main" val="374615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9E0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3A4169E-32D5-4F85-84B8-7D5FE121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HOUSE DARK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3E0790F-2A1B-422A-B018-634877E7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LIVE PRODUCT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6312FB1-4E85-453D-B383-D8A6332A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B70B564-A365-4E1A-A3DA-97C5457C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3B56865-B123-4C78-BFB0-8BCFCCAD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A private picture house, not a streaming catalogue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B96FD51-ED82-46AC-89DF-425ACFBA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The deployed desktop interface translates the phone ritual without becoming a dashboard.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508b178994bd4"/>
          <a:stretch xmlns:a="http://schemas.openxmlformats.org/drawingml/2006/main"/>
        </p:blipFill>
        <p:spPr>
          <a:xfrm xmlns:a="http://schemas.openxmlformats.org/drawingml/2006/main">
            <a:off x="1333500" y="2209800"/>
            <a:ext cx="655320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0D9570-9407-4F12-B314-72028559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1FF6F5A-E445-495F-8E31-A20774B6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241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House rail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3813DEF-83D9-4320-8E1A-A7EA632C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1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Programme time, four destinations and the member's current ritual.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13F8CCE1-905A-4CBB-9BD9-0E5475E3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D1430BC-F3B0-4A3E-8522-25AC0CBA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C10A697-2C28-48C9-9886-CBAA24D5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623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Editorial opening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6854FFE-0831-4D99-BC62-FD6A2239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67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The proposition appears before feature mechanics.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863145CD-2780-439A-A740-4D9468E2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481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6FDEF4F-5F73-4E43-BAFA-4346DD56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016E863-553B-44CE-8BFF-6A82F3C6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005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Feature console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F2C8FB8-1E03-4803-9654-A3E4F13B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053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A distinct No Trailer material study sits beside one clear action.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68A0CA02-BE9C-46D5-BC5B-48D92FE8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863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6A5CF14-A890-4A89-96D5-62B4DA41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577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B238FEC-77A4-4FAA-9176-D893EABC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8387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No catalogue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DE4BCD0-81E3-4D7B-BC0B-7B08E437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1435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Tonight owns the page. Everything else remains behind navigation.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784F0F24-71A2-4C06-ACE2-2D58864E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245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41493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9E0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61239E9C-01D6-4902-A008-4F5FC8D1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HOUSE DARK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DCEFF14-9A7C-448D-91DA-06F5938F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MOBILE SHELL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AF3A525-A488-4228-B77B-DAA05AA5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E6AF359-9188-480D-8630-E40F561F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4F5A1E2-F3B5-43A9-83D2-45D6E313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The house stays one action away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CCB0A40-D943-4D07-9269-8190D599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The phone is the primary product. Desktop only widens the same hierarchy.</a:t>
            </a:r>
          </a:p>
        </p:txBody>
      </p:sp>
      <p:sp>
        <p:nvSpPr>
          <p:cNvPr id="7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B24BBBCF-057B-4928-86F1-60D24AC8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33600"/>
            <a:ext cx="342900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E490C232-9896-4B5E-A3B8-C5EB59A5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00275"/>
            <a:ext cx="329565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C2D0B57C-B478-4570-973F-201635F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00275"/>
            <a:ext cx="3295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B365F80-ECC8-44A4-BB4A-9D058154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764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11" name="live-dot">
            <a:extLst xmlns:a="http://schemas.openxmlformats.org/drawingml/2006/main">
              <a:ext uri="{FF2B5EF4-FFF2-40B4-BE49-F238E27FC236}">
                <a16:creationId xmlns:a16="http://schemas.microsoft.com/office/drawing/2014/main" id="{196A8881-A526-403B-8941-380390A2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81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C2B486-6518-449E-AD68-A2DF6078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050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13" name="mobile-nav">
            <a:extLst xmlns:a="http://schemas.openxmlformats.org/drawingml/2006/main">
              <a:ext uri="{FF2B5EF4-FFF2-40B4-BE49-F238E27FC236}">
                <a16:creationId xmlns:a16="http://schemas.microsoft.com/office/drawing/2014/main" id="{74DAB332-EDFA-425D-89BD-E15EB21D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00725"/>
            <a:ext cx="3295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840B0D7-24D8-4357-8341-C332B82D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019800"/>
            <a:ext cx="8239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15" name="nav-state">
            <a:extLst xmlns:a="http://schemas.openxmlformats.org/drawingml/2006/main">
              <a:ext uri="{FF2B5EF4-FFF2-40B4-BE49-F238E27FC236}">
                <a16:creationId xmlns:a16="http://schemas.microsoft.com/office/drawing/2014/main" id="{0FF4EB2E-DF8A-4A67-A0F1-4B3C8057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356" y="58959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1D9E784-AC93-4C85-AA4A-23BFB207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038" y="6019800"/>
            <a:ext cx="8239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17" name="nav-state">
            <a:extLst xmlns:a="http://schemas.openxmlformats.org/drawingml/2006/main">
              <a:ext uri="{FF2B5EF4-FFF2-40B4-BE49-F238E27FC236}">
                <a16:creationId xmlns:a16="http://schemas.microsoft.com/office/drawing/2014/main" id="{1650E747-A044-4887-9911-1ADA364B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944" y="58959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358ABF1-EEB7-4A79-B19A-C2DA0BAA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019800"/>
            <a:ext cx="8239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19" name="nav-state">
            <a:extLst xmlns:a="http://schemas.openxmlformats.org/drawingml/2006/main">
              <a:ext uri="{FF2B5EF4-FFF2-40B4-BE49-F238E27FC236}">
                <a16:creationId xmlns:a16="http://schemas.microsoft.com/office/drawing/2014/main" id="{80E7E6A2-36AF-4C32-903E-C12E83BF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856" y="58959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59CC3F6-41A7-4E9E-AB9E-337F2B34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863" y="6019800"/>
            <a:ext cx="8239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21" name="nav-state">
            <a:extLst xmlns:a="http://schemas.openxmlformats.org/drawingml/2006/main">
              <a:ext uri="{FF2B5EF4-FFF2-40B4-BE49-F238E27FC236}">
                <a16:creationId xmlns:a16="http://schemas.microsoft.com/office/drawing/2014/main" id="{69D67809-9800-437F-A0F3-3886CD98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769" y="58959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A994BC6-88C0-42D6-9EB2-8476BAD8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79082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HOUSE DARK PRESENTS · OPENING 043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BCA2BC6-ACE8-4D70-B8B6-A392284A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57525"/>
            <a:ext cx="3067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5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5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Get the thrill of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5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5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knowing nothing.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C08C5CFC-66A9-4308-B645-9071921B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1477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C53BD2A-C137-498E-B8F1-012718C3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4812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ONE FILM · EVERY NIGHT · HUMAN CHOSEN</a:t>
            </a:r>
          </a:p>
        </p:txBody>
      </p:sp>
      <p:sp>
        <p:nvSpPr>
          <p:cNvPr id="26" name="sealed-feature">
            <a:extLst xmlns:a="http://schemas.openxmlformats.org/drawingml/2006/main">
              <a:ext uri="{FF2B5EF4-FFF2-40B4-BE49-F238E27FC236}">
                <a16:creationId xmlns:a16="http://schemas.microsoft.com/office/drawing/2014/main" id="{2620F1F5-6EB2-432C-8962-EA9F43A7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29125"/>
            <a:ext cx="3067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CE80FB4-9F50-4CC3-B78B-A0A51AAE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5815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rPr>
              <a:t>TONIGHT'S SEALED FEATURE · 043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FA415DD-027B-43A6-BFB7-A50C528B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84822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875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875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Tonight is sealed.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875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875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Keep it that way.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9CAC69E-B939-4BD6-BDEF-137B8CAF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431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01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D036ADD4-8B0B-47A8-94AF-940C7424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Four permanent tabs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9804863F-AD1D-491E-8AF6-F21A771C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489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Tonight, Circle, Library and You. No fifth destination.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6E2A0231-ACF3-44E7-8CC7-0DE43598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099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BF8E59E8-97A2-4615-ADFB-C6A463B2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813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02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BC6D20C7-7C15-4B72-A40B-E77A7DF2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Current state first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3ABA0124-7D01-4023-B5CE-D48B1DB7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489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House time, edition and sealed status appear before detail.</a:t>
            </a:r>
          </a:p>
        </p:txBody>
      </p:sp>
      <p:sp>
        <p:nvSpPr>
          <p:cNvPr id="36" name="rule">
            <a:extLst xmlns:a="http://schemas.openxmlformats.org/drawingml/2006/main">
              <a:ext uri="{FF2B5EF4-FFF2-40B4-BE49-F238E27FC236}">
                <a16:creationId xmlns:a16="http://schemas.microsoft.com/office/drawing/2014/main" id="{025C2579-6D20-4F43-B5E1-6FA893B2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481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6DF34C20-6BBA-44DF-AF63-B23E8C58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195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03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BD7F6A62-45D5-4619-8B71-6C757AE8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One dominant action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9C3B7B45-B6D1-42A7-A260-3CDE0AAB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489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Every state has one clear next move. Supporting options recede.</a:t>
            </a:r>
          </a:p>
        </p:txBody>
      </p:sp>
      <p:sp>
        <p:nvSpPr>
          <p:cNvPr id="40" name="rule">
            <a:extLst xmlns:a="http://schemas.openxmlformats.org/drawingml/2006/main">
              <a:ext uri="{FF2B5EF4-FFF2-40B4-BE49-F238E27FC236}">
                <a16:creationId xmlns:a16="http://schemas.microsoft.com/office/drawing/2014/main" id="{0AE7E069-BD38-4AF5-AC44-60878E13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863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6D6DF525-D7F2-4615-A3DE-5D896CCD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577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04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19290AD2-3C9A-4766-BFED-014ABF9A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3870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Character through structure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83793B58-1E3E-49EC-8E7C-39207104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489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Codes, rules, timing and type create film character without props.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8C1C6F4F-337F-4BE5-A4E6-6432262F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5245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74437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9E0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E014845F-E12F-4A79-B735-C0F34C3C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HOUSE DARK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3713C25-B3CE-4EBE-914C-1B069D40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1DBBB63-7D74-4396-B5EE-51715EB6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DFCEACE-2C96-4B25-A05D-612AAF8D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0C6A9C6-BFD5-4430-809F-B256F1D9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The unknown is the product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86B6559-FF6B-4A22-9831-72879B77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No title, poster, cast, synopsis, score or recognisable story material reaches the member before reveal.</a:t>
            </a:r>
          </a:p>
        </p:txBody>
      </p:sp>
      <p:sp>
        <p:nvSpPr>
          <p:cNvPr id="7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7A3BB713-B676-4B53-B540-05404D0E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363855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57FFA8EC-0403-434C-AE6F-9FC142B2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81225"/>
            <a:ext cx="35052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DFC793FA-4EAF-45ED-95A6-08B255D1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81225"/>
            <a:ext cx="3505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67AA5BE-5378-4546-8B12-8A455173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5742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11" name="live-dot">
            <a:extLst xmlns:a="http://schemas.openxmlformats.org/drawingml/2006/main">
              <a:ext uri="{FF2B5EF4-FFF2-40B4-BE49-F238E27FC236}">
                <a16:creationId xmlns:a16="http://schemas.microsoft.com/office/drawing/2014/main" id="{419BF193-1BAD-437C-AB29-4708175A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362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B5CC555-E902-407A-8929-ACADCBD7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860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13" name="mobile-nav">
            <a:extLst xmlns:a="http://schemas.openxmlformats.org/drawingml/2006/main">
              <a:ext uri="{FF2B5EF4-FFF2-40B4-BE49-F238E27FC236}">
                <a16:creationId xmlns:a16="http://schemas.microsoft.com/office/drawing/2014/main" id="{0EB59F0D-8AE4-436C-BF86-AFB39056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819775"/>
            <a:ext cx="3505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46483B2-B0F2-4F64-96F9-F24850D8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038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15" name="nav-state">
            <a:extLst xmlns:a="http://schemas.openxmlformats.org/drawingml/2006/main">
              <a:ext uri="{FF2B5EF4-FFF2-40B4-BE49-F238E27FC236}">
                <a16:creationId xmlns:a16="http://schemas.microsoft.com/office/drawing/2014/main" id="{F618E73A-F271-4156-9CC8-A1A8E7EA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9150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7AC5807-F154-4002-9714-4FC1741B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038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17" name="nav-state">
            <a:extLst xmlns:a="http://schemas.openxmlformats.org/drawingml/2006/main">
              <a:ext uri="{FF2B5EF4-FFF2-40B4-BE49-F238E27FC236}">
                <a16:creationId xmlns:a16="http://schemas.microsoft.com/office/drawing/2014/main" id="{CAF626F0-A9E5-4851-974A-61D2A6A4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CF5D013-ABEC-4204-BDD6-6310CF04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6038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19" name="nav-state">
            <a:extLst xmlns:a="http://schemas.openxmlformats.org/drawingml/2006/main">
              <a:ext uri="{FF2B5EF4-FFF2-40B4-BE49-F238E27FC236}">
                <a16:creationId xmlns:a16="http://schemas.microsoft.com/office/drawing/2014/main" id="{9400F6F1-CD26-4513-A01B-A87B959A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DE3FA2C-3C21-4F2C-AA6C-B876489A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6038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21" name="nav-state">
            <a:extLst xmlns:a="http://schemas.openxmlformats.org/drawingml/2006/main">
              <a:ext uri="{FF2B5EF4-FFF2-40B4-BE49-F238E27FC236}">
                <a16:creationId xmlns:a16="http://schemas.microsoft.com/office/drawing/2014/main" id="{BEEA0C7D-FC74-4E84-8BBD-170F03FA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CC6AC3E-02DD-419E-8717-190E7083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71775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TONIGHT AT HOUSE DARK · PROGRAMME 043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1E4ED08-B7B7-4131-AB23-EF49BDE5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03847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7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47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Tonight is sealed.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7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47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Keep it that way.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2CFB1F03-9D50-4EB8-8368-FED8FFA3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943350"/>
            <a:ext cx="104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C4E7F14-25F4-463E-9C4B-5E768B6F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48125"/>
            <a:ext cx="104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6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01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B8A7405-B6E6-4F25-98C1-0C218333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33875"/>
            <a:ext cx="104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38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HUMAN CHOSEN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AD640234-3187-421B-B567-9C71B573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3943350"/>
            <a:ext cx="104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2724F52-4137-416B-9EF8-B2DB9B88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4048125"/>
            <a:ext cx="104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6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10s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0D34380-F241-433D-97E7-44B7413D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4333875"/>
            <a:ext cx="104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38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ORIGINAL STUDY</a:t>
            </a:r>
          </a:p>
        </p:txBody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2AA4F7E3-6609-430E-A44C-0B085BEB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975" y="3943350"/>
            <a:ext cx="104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CDCD00E-24CF-4D52-A1B6-B0ED9A88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975" y="4048125"/>
            <a:ext cx="104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6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00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AF50D27-49EE-4F8C-9EDF-92B737CA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975" y="4333875"/>
            <a:ext cx="104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38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PLOT OR SCORES</a:t>
            </a:r>
          </a:p>
        </p:txBody>
      </p:sp>
      <p:sp>
        <p:nvSpPr>
          <p:cNvPr id="33" name="dimmer">
            <a:extLst xmlns:a="http://schemas.openxmlformats.org/drawingml/2006/main">
              <a:ext uri="{FF2B5EF4-FFF2-40B4-BE49-F238E27FC236}">
                <a16:creationId xmlns:a16="http://schemas.microsoft.com/office/drawing/2014/main" id="{F61B5882-71AF-45BF-A9F6-80F372AE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24400"/>
            <a:ext cx="32766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1FA4121F-BC47-4330-AFF3-99CF6DB6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886325"/>
            <a:ext cx="297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SWIPE TO DIM THE HOUSE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3BA913E3-E6A1-4DA0-864A-29917D28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BRIGHT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AD36184D-E005-4B34-8878-BD533FDB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57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rPr>
              <a:t>DARK  ↓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736807BD-F6F9-48A5-84EC-F5F51200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431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01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B60992BC-6DCF-4921-82FF-DEB324AA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2410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Server boundary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6D8BD04F-5AB0-48AA-AAAF-DF497A2D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9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The title is withheld at data level, not hidden with CSS.</a:t>
            </a:r>
          </a:p>
        </p:txBody>
      </p:sp>
      <p:sp>
        <p:nvSpPr>
          <p:cNvPr id="40" name="rule">
            <a:extLst xmlns:a="http://schemas.openxmlformats.org/drawingml/2006/main">
              <a:ext uri="{FF2B5EF4-FFF2-40B4-BE49-F238E27FC236}">
                <a16:creationId xmlns:a16="http://schemas.microsoft.com/office/drawing/2014/main" id="{BE87FAF9-A692-48BE-AC76-B48ABC48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099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7D63F61C-4205-4C1B-8528-ED200716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02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732FC175-6430-4A62-9537-4E41F393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6230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Safe prelude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73DF1DD5-13D1-4D53-A5C5-2EB1F317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671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The member gets only mood, pace, content care and house timing.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F740A1E4-B2C8-4CC3-8FE3-DF8E46B2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481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F9149800-35C9-4393-A14C-07F2406E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195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03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EB890EFD-9B4F-4C61-A1DB-CA79365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Deliberate gesture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51DF73F2-7793-4948-964F-AD48C540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Dimming the house turns pressing play into a conscious choice.</a:t>
            </a:r>
          </a:p>
        </p:txBody>
      </p:sp>
      <p:sp>
        <p:nvSpPr>
          <p:cNvPr id="48" name="rule">
            <a:extLst xmlns:a="http://schemas.openxmlformats.org/drawingml/2006/main">
              <a:ext uri="{FF2B5EF4-FFF2-40B4-BE49-F238E27FC236}">
                <a16:creationId xmlns:a16="http://schemas.microsoft.com/office/drawing/2014/main" id="{CC52CFEF-A8E3-4443-B8E0-AF3E95DF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863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6AA58A53-D1C3-4751-95EB-ADACB80E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577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04</a:t>
            </a:r>
          </a:p>
        </p:txBody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2870E6C7-A32C-40EA-AA87-0735B3A2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3870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Immediate reassurance</a:t>
            </a:r>
          </a:p>
        </p:txBody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BD12AEFA-4662-409B-8FB2-1C37837E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01 human chosen, 10 seconds, 00 plot or scores.</a:t>
            </a:r>
          </a:p>
        </p:txBody>
      </p:sp>
      <p:sp>
        <p:nvSpPr>
          <p:cNvPr id="52" name="rule">
            <a:extLst xmlns:a="http://schemas.openxmlformats.org/drawingml/2006/main">
              <a:ext uri="{FF2B5EF4-FFF2-40B4-BE49-F238E27FC236}">
                <a16:creationId xmlns:a16="http://schemas.microsoft.com/office/drawing/2014/main" id="{77EC5E57-DD63-49E8-8EAE-21F17250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245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28097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9E0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text">
            <a:extLst xmlns:a="http://schemas.openxmlformats.org/drawingml/2006/main">
              <a:ext uri="{FF2B5EF4-FFF2-40B4-BE49-F238E27FC236}">
                <a16:creationId xmlns:a16="http://schemas.microsoft.com/office/drawing/2014/main" id="{7C333461-09E3-4761-82E8-D8BD92AB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HOUSE DARK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8F93ED9-55E2-4D4D-8647-6A518126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OPENING SEQUENCE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96E807C-988E-4862-BE3F-6ED9237A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6D8B62-7445-43E6-95B6-A39224A6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D290EBA-0FE4-44DB-8FA9-533BC025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Three states make the reveal feel earned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86D59ED-94F1-4849-9A99-43CAF142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The transition is short, legible and repeatable. The material changes for every film.</a:t>
            </a:r>
          </a:p>
        </p:txBody>
      </p:sp>
      <p:sp>
        <p:nvSpPr>
          <p:cNvPr id="7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7838711A-C5D7-497A-B498-4B41FDCC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8003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AFD8A772-42C7-46A2-B4A7-9F555A5D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76475"/>
            <a:ext cx="2667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27EDB0BF-2C63-4469-AA7A-35A81F87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76475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96C7A6F-FCB6-4847-8E89-60567DFC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526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11" name="live-dot">
            <a:extLst xmlns:a="http://schemas.openxmlformats.org/drawingml/2006/main">
              <a:ext uri="{FF2B5EF4-FFF2-40B4-BE49-F238E27FC236}">
                <a16:creationId xmlns:a16="http://schemas.microsoft.com/office/drawing/2014/main" id="{F69CB190-1FED-45CD-816C-B393BE6F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457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586E22F-C6B5-4787-8E27-B7E0B045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13" name="mobile-nav">
            <a:extLst xmlns:a="http://schemas.openxmlformats.org/drawingml/2006/main">
              <a:ext uri="{FF2B5EF4-FFF2-40B4-BE49-F238E27FC236}">
                <a16:creationId xmlns:a16="http://schemas.microsoft.com/office/drawing/2014/main" id="{86327E28-0738-4855-B883-EE661795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0225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0208E3F-13F4-4E10-BC7F-7B8949C8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293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15" name="nav-state">
            <a:extLst xmlns:a="http://schemas.openxmlformats.org/drawingml/2006/main">
              <a:ext uri="{FF2B5EF4-FFF2-40B4-BE49-F238E27FC236}">
                <a16:creationId xmlns:a16="http://schemas.microsoft.com/office/drawing/2014/main" id="{D4E84572-35A3-43BC-916F-56BBB6A0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7054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FA2C1DC-9922-49FD-9876-BB2E3FF2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293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17" name="nav-state">
            <a:extLst xmlns:a="http://schemas.openxmlformats.org/drawingml/2006/main">
              <a:ext uri="{FF2B5EF4-FFF2-40B4-BE49-F238E27FC236}">
                <a16:creationId xmlns:a16="http://schemas.microsoft.com/office/drawing/2014/main" id="{5BFE2B51-9314-4B40-9D06-EB0C4BD9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054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7895587-63A9-4A05-8D49-D47D4D76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8293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19" name="nav-state">
            <a:extLst xmlns:a="http://schemas.openxmlformats.org/drawingml/2006/main">
              <a:ext uri="{FF2B5EF4-FFF2-40B4-BE49-F238E27FC236}">
                <a16:creationId xmlns:a16="http://schemas.microsoft.com/office/drawing/2014/main" id="{BF8F1691-884A-42BC-B225-266B99E3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7054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5128BD9-1D66-4E7E-86BA-84125270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293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21" name="nav-state">
            <a:extLst xmlns:a="http://schemas.openxmlformats.org/drawingml/2006/main">
              <a:ext uri="{FF2B5EF4-FFF2-40B4-BE49-F238E27FC236}">
                <a16:creationId xmlns:a16="http://schemas.microsoft.com/office/drawing/2014/main" id="{ED22353E-C288-4E70-8295-D9CE01C3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7054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6C79B51-E291-4EC4-94D2-2053C3AC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67025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rPr>
              <a:t>01  DIM THE HOUSE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460B128-7839-4060-8ED4-17E9EBDD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324225"/>
            <a:ext cx="2438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1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21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Leave the internet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1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21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in the lobby.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8E948CDA-71C6-46B6-958B-CD7924FD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391025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659C0D2-9ED8-446E-B553-0AB38679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00575"/>
            <a:ext cx="243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8CCB8"/>
                </a:solidFill>
                <a:latin typeface="Newsreader"/>
                <a:ea typeface="Newsreader"/>
                <a:cs typeface="Newsreader"/>
              </a:defRPr>
            </a:pPr>
            <a:r>
              <a:rPr sz="1275" b="0" i="0">
                <a:solidFill>
                  <a:srgbClr val="D8CCB8"/>
                </a:solidFill>
                <a:latin typeface="Newsreader"/>
                <a:ea typeface="Newsreader"/>
                <a:cs typeface="Newsreader"/>
              </a:rPr>
              <a:t>Swipe the light down when you are ready to begin.</a:t>
            </a:r>
          </a:p>
        </p:txBody>
      </p:sp>
      <p:sp>
        <p:nvSpPr>
          <p:cNvPr id="26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99CB83DE-CC96-48B3-A0A7-009C5896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09800"/>
            <a:ext cx="28003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E6829C20-79A8-44FC-9407-188DCF4A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76475"/>
            <a:ext cx="2667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1DDEC6DA-7FC5-4856-81DF-E200FD90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76475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36D5FCE-8F27-4B93-A8E0-325BEAD4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3526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30" name="live-dot">
            <a:extLst xmlns:a="http://schemas.openxmlformats.org/drawingml/2006/main">
              <a:ext uri="{FF2B5EF4-FFF2-40B4-BE49-F238E27FC236}">
                <a16:creationId xmlns:a16="http://schemas.microsoft.com/office/drawing/2014/main" id="{73E91E55-9C07-45A1-B82D-17C54C5C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947C2A14-CB61-4033-9EEE-576CF1DE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812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32" name="mobile-nav">
            <a:extLst xmlns:a="http://schemas.openxmlformats.org/drawingml/2006/main">
              <a:ext uri="{FF2B5EF4-FFF2-40B4-BE49-F238E27FC236}">
                <a16:creationId xmlns:a16="http://schemas.microsoft.com/office/drawing/2014/main" id="{FA6677EE-6FB2-499E-AEEB-DF774F0F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10225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DE0D53B9-567C-436D-9641-4BE59060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293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34" name="nav-state">
            <a:extLst xmlns:a="http://schemas.openxmlformats.org/drawingml/2006/main">
              <a:ext uri="{FF2B5EF4-FFF2-40B4-BE49-F238E27FC236}">
                <a16:creationId xmlns:a16="http://schemas.microsoft.com/office/drawing/2014/main" id="{9A75CF62-2001-4DBF-A3D8-6DD37180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7054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5B33FA42-2523-4354-972F-51C915B3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8293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36" name="nav-state">
            <a:extLst xmlns:a="http://schemas.openxmlformats.org/drawingml/2006/main">
              <a:ext uri="{FF2B5EF4-FFF2-40B4-BE49-F238E27FC236}">
                <a16:creationId xmlns:a16="http://schemas.microsoft.com/office/drawing/2014/main" id="{2468C96A-BFFF-4FDA-B36D-5BA32BD4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7054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DC9E5C0A-5E86-4E25-BE8A-2099A489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293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38" name="nav-state">
            <a:extLst xmlns:a="http://schemas.openxmlformats.org/drawingml/2006/main">
              <a:ext uri="{FF2B5EF4-FFF2-40B4-BE49-F238E27FC236}">
                <a16:creationId xmlns:a16="http://schemas.microsoft.com/office/drawing/2014/main" id="{BFBB9564-BE2E-4C85-A875-5535ABB9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7054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B96D49F7-BD16-43D4-B42B-5A266AB9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293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40" name="nav-state">
            <a:extLst xmlns:a="http://schemas.openxmlformats.org/drawingml/2006/main">
              <a:ext uri="{FF2B5EF4-FFF2-40B4-BE49-F238E27FC236}">
                <a16:creationId xmlns:a16="http://schemas.microsoft.com/office/drawing/2014/main" id="{CF637A25-99AF-49B1-9092-F5367AAF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7054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02AA16B3-9891-4529-B02A-7184FF0A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67025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rPr>
              <a:t>02  NO TRAILER · 00:10</a:t>
            </a:r>
          </a:p>
        </p:txBody>
      </p:sp>
      <p:sp>
        <p:nvSpPr>
          <p:cNvPr id="42" name="film-study">
            <a:extLst xmlns:a="http://schemas.openxmlformats.org/drawingml/2006/main">
              <a:ext uri="{FF2B5EF4-FFF2-40B4-BE49-F238E27FC236}">
                <a16:creationId xmlns:a16="http://schemas.microsoft.com/office/drawing/2014/main" id="{F99D5B96-C1BE-484B-BA18-522E71E3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28975"/>
            <a:ext cx="24384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light-slit">
            <a:extLst xmlns:a="http://schemas.openxmlformats.org/drawingml/2006/main">
              <a:ext uri="{FF2B5EF4-FFF2-40B4-BE49-F238E27FC236}">
                <a16:creationId xmlns:a16="http://schemas.microsoft.com/office/drawing/2014/main" id="{1948069D-3C33-430B-A8A6-4C1BD57C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28975"/>
            <a:ext cx="2476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ilm-line">
            <a:extLst xmlns:a="http://schemas.openxmlformats.org/drawingml/2006/main">
              <a:ext uri="{FF2B5EF4-FFF2-40B4-BE49-F238E27FC236}">
                <a16:creationId xmlns:a16="http://schemas.microsoft.com/office/drawing/2014/main" id="{ED553166-9370-4B55-83E9-EF586D86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28975"/>
            <a:ext cx="95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2F0A488D-6EC8-4BE8-A43A-416FA4F4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1490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THE PICTURE IS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12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INTRODUCING ITSELF</a:t>
            </a:r>
          </a:p>
        </p:txBody>
      </p:sp>
      <p:sp>
        <p:nvSpPr>
          <p:cNvPr id="46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23A9ACF3-BB0D-434D-8C35-B4FE5EF0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28003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F83CBA12-FE8D-46B0-9D7A-CA0B8C5E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76475"/>
            <a:ext cx="2667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059F124C-C0C7-4E64-A095-8D7115E2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76475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84B7F66A-C314-4F74-BAC9-05462819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526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50" name="live-dot">
            <a:extLst xmlns:a="http://schemas.openxmlformats.org/drawingml/2006/main">
              <a:ext uri="{FF2B5EF4-FFF2-40B4-BE49-F238E27FC236}">
                <a16:creationId xmlns:a16="http://schemas.microsoft.com/office/drawing/2014/main" id="{7858EA26-3F0B-4BC5-B4A0-C99FD90D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457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E301DF43-BC4F-4C42-82C4-9C9A49B4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812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52" name="mobile-nav">
            <a:extLst xmlns:a="http://schemas.openxmlformats.org/drawingml/2006/main">
              <a:ext uri="{FF2B5EF4-FFF2-40B4-BE49-F238E27FC236}">
                <a16:creationId xmlns:a16="http://schemas.microsoft.com/office/drawing/2014/main" id="{46A7E536-6F21-4440-9259-850854E9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610225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B7789FE5-3230-4CBC-A432-1F89F22E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8293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54" name="nav-state">
            <a:extLst xmlns:a="http://schemas.openxmlformats.org/drawingml/2006/main">
              <a:ext uri="{FF2B5EF4-FFF2-40B4-BE49-F238E27FC236}">
                <a16:creationId xmlns:a16="http://schemas.microsoft.com/office/drawing/2014/main" id="{1256102A-6212-4A3F-AE47-62388C13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7054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C3E697B9-5D01-4D41-979E-E789FCB9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8293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56" name="nav-state">
            <a:extLst xmlns:a="http://schemas.openxmlformats.org/drawingml/2006/main">
              <a:ext uri="{FF2B5EF4-FFF2-40B4-BE49-F238E27FC236}">
                <a16:creationId xmlns:a16="http://schemas.microsoft.com/office/drawing/2014/main" id="{B6E92E7A-1EB5-442D-9E29-DBBFBA7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7054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698CC35D-076E-49B1-87B4-D785BE5C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8293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58" name="nav-state">
            <a:extLst xmlns:a="http://schemas.openxmlformats.org/drawingml/2006/main">
              <a:ext uri="{FF2B5EF4-FFF2-40B4-BE49-F238E27FC236}">
                <a16:creationId xmlns:a16="http://schemas.microsoft.com/office/drawing/2014/main" id="{3BB48051-3629-46AC-A2AC-CC16F423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7054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text">
            <a:extLst xmlns:a="http://schemas.openxmlformats.org/drawingml/2006/main">
              <a:ext uri="{FF2B5EF4-FFF2-40B4-BE49-F238E27FC236}">
                <a16:creationId xmlns:a16="http://schemas.microsoft.com/office/drawing/2014/main" id="{97A9A0C7-B18E-48DC-BC20-52AC39BE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8293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60" name="nav-state">
            <a:extLst xmlns:a="http://schemas.openxmlformats.org/drawingml/2006/main">
              <a:ext uri="{FF2B5EF4-FFF2-40B4-BE49-F238E27FC236}">
                <a16:creationId xmlns:a16="http://schemas.microsoft.com/office/drawing/2014/main" id="{D2377BBB-E475-4BD1-819A-A348BB3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7054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A0F38A40-A219-473A-997B-241C52C3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67025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03  TITLE RELEASED</a:t>
            </a:r>
          </a:p>
        </p:txBody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1560740D-1786-42F4-B186-E5545CB5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324225"/>
            <a:ext cx="2438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7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7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PAST LIVES</a:t>
            </a:r>
          </a:p>
        </p:txBody>
      </p:sp>
      <p:sp>
        <p:nvSpPr>
          <p:cNvPr id="63" name="rule">
            <a:extLst xmlns:a="http://schemas.openxmlformats.org/drawingml/2006/main">
              <a:ext uri="{FF2B5EF4-FFF2-40B4-BE49-F238E27FC236}">
                <a16:creationId xmlns:a16="http://schemas.microsoft.com/office/drawing/2014/main" id="{CC81D1EB-6AC8-4789-AC1E-7D8E3B87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391025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FDD01885-4E32-405E-B897-B5B0A56A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600575"/>
            <a:ext cx="243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27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Now you know. Nothing else.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27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Watch without preview.</a:t>
            </a:r>
          </a:p>
        </p:txBody>
      </p:sp>
    </p:spTree>
    <p:extLst>
      <p:ext uri="{BB962C8B-B14F-4D97-AF65-F5344CB8AC3E}">
        <p14:creationId xmlns:p14="http://schemas.microsoft.com/office/powerpoint/2010/main" val="1832303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9E0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4423F81F-8AC8-4107-96EC-D2B8330A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HOUSE DARK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74F4217-BB3D-418F-97E8-257853BF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2305388-B882-450E-8E3E-DAF8B88B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610400B-1964-40FB-A5F9-A7A6EC37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169111E-BBAA-4A47-9FD6-C14DADEF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Social context arrives after the picture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A9CA6F8-92F9-4E81-9687-F00194B0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Friends create trust and return without pre-framing an unopened film.</a:t>
            </a:r>
          </a:p>
        </p:txBody>
      </p:sp>
      <p:sp>
        <p:nvSpPr>
          <p:cNvPr id="7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73975AAF-F642-414E-871A-42460F93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37719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03897217-D7E6-455E-BF11-398479CC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162175"/>
            <a:ext cx="363855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B3D9F4E8-57E0-48CE-9F9B-0D0A539E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162175"/>
            <a:ext cx="3638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D52C51A-A13B-4AED-8A03-3D90376D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383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11" name="live-dot">
            <a:extLst xmlns:a="http://schemas.openxmlformats.org/drawingml/2006/main">
              <a:ext uri="{FF2B5EF4-FFF2-40B4-BE49-F238E27FC236}">
                <a16:creationId xmlns:a16="http://schemas.microsoft.com/office/drawing/2014/main" id="{4C8D55D4-C02F-47E4-96F0-4E5BC925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43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29D3BB7-B1FB-4804-9776-B67A16BA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669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13" name="mobile-nav">
            <a:extLst xmlns:a="http://schemas.openxmlformats.org/drawingml/2006/main">
              <a:ext uri="{FF2B5EF4-FFF2-40B4-BE49-F238E27FC236}">
                <a16:creationId xmlns:a16="http://schemas.microsoft.com/office/drawing/2014/main" id="{DF2369B5-D212-4E7F-8F4E-E465B720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819775"/>
            <a:ext cx="3638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5C7F06E-2A60-466B-9163-FF8001CA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038850"/>
            <a:ext cx="909638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15" name="nav-state">
            <a:extLst xmlns:a="http://schemas.openxmlformats.org/drawingml/2006/main">
              <a:ext uri="{FF2B5EF4-FFF2-40B4-BE49-F238E27FC236}">
                <a16:creationId xmlns:a16="http://schemas.microsoft.com/office/drawing/2014/main" id="{5F30F953-460A-4A56-AC00-034B694A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994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FD315F1-B56C-4382-B5CE-F0E47DF5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63" y="6038850"/>
            <a:ext cx="909638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17" name="nav-state">
            <a:extLst xmlns:a="http://schemas.openxmlformats.org/drawingml/2006/main">
              <a:ext uri="{FF2B5EF4-FFF2-40B4-BE49-F238E27FC236}">
                <a16:creationId xmlns:a16="http://schemas.microsoft.com/office/drawing/2014/main" id="{C979DE34-06ED-49BE-AD5F-F733B14F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956" y="59150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E9F4819-D501-45B5-B519-452D0012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38850"/>
            <a:ext cx="909638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19" name="nav-state">
            <a:extLst xmlns:a="http://schemas.openxmlformats.org/drawingml/2006/main">
              <a:ext uri="{FF2B5EF4-FFF2-40B4-BE49-F238E27FC236}">
                <a16:creationId xmlns:a16="http://schemas.microsoft.com/office/drawing/2014/main" id="{25820167-5B7B-4876-9F47-24790C57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269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B43282E-53F6-43D4-8EDA-A016C45C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6038850"/>
            <a:ext cx="909638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21" name="nav-state">
            <a:extLst xmlns:a="http://schemas.openxmlformats.org/drawingml/2006/main">
              <a:ext uri="{FF2B5EF4-FFF2-40B4-BE49-F238E27FC236}">
                <a16:creationId xmlns:a16="http://schemas.microsoft.com/office/drawing/2014/main" id="{1074A6B1-70ED-4826-889D-2641FA11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906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4B7604A-9DEB-4118-88C2-B313E9D8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75272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YOUR PRIVATE FILM CIRCLE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24BA58A-FB78-48F2-AF3E-672432AE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000375"/>
            <a:ext cx="340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32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32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Trust people,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32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32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not percentages.</a:t>
            </a:r>
          </a:p>
        </p:txBody>
      </p:sp>
      <p:sp>
        <p:nvSpPr>
          <p:cNvPr id="24" name="sealed-inbox">
            <a:extLst xmlns:a="http://schemas.openxmlformats.org/drawingml/2006/main">
              <a:ext uri="{FF2B5EF4-FFF2-40B4-BE49-F238E27FC236}">
                <a16:creationId xmlns:a16="http://schemas.microsoft.com/office/drawing/2014/main" id="{2823B2D6-7BE1-42C2-B944-621AA41E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57625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1333F9D-832F-473F-B031-878FEB68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0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rPr>
              <a:t>SEALED FOR YOU · FROM RORY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572A74D-6105-4F8B-BB7E-B456DC11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48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00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500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A film chosen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500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500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without the sales pitch.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F64285F-7669-4D51-82B5-A311E1E9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148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38" b="1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TITLE WITHHELD · OPEN PRIVATE OPENING ↗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DC78951-BF10-4F61-8D04-46E5483A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07682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THE BALCONY · FIVE PEOPLE YOU TRUST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1815A35-B7ED-4F1C-8C6F-35A46D1E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324475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63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863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ALEX  ·  watched something that stayed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63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863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RORY  ·  sent a film under seal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63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863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AISHA  ·  screening Friday at 8:15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908A262F-0EF8-4F56-83E7-62990085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241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01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B7E3A870-6F89-41A7-862F-3D2F5944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05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Sealed inbox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85BEDE91-89B3-4AD7-9840-6377211E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The sender and personal note appear. Film metadata does not.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2C18F81B-C099-499F-B375-8438D912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9085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F6DFCEC-0260-4118-A5FD-AC7497AF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62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02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F01FF11E-2BF2-483F-91D4-3E4304E2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43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Small groups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249F175B-0AEB-42D2-87CC-88205A97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48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Circles are trusted rooms, not public follower networks.</a:t>
            </a:r>
          </a:p>
        </p:txBody>
      </p:sp>
      <p:sp>
        <p:nvSpPr>
          <p:cNvPr id="37" name="rule">
            <a:extLst xmlns:a="http://schemas.openxmlformats.org/drawingml/2006/main">
              <a:ext uri="{FF2B5EF4-FFF2-40B4-BE49-F238E27FC236}">
                <a16:creationId xmlns:a16="http://schemas.microsoft.com/office/drawing/2014/main" id="{84697B8F-A0A2-4137-9702-9F42FCBD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2905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B29018E7-C45C-43D4-84E0-6BC0F8D2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00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03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02862B07-8313-4CDA-A33F-3DB6C3D5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81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Activity with restraint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D0DE8AFF-72BF-400B-8926-E2D1F975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86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Friends can see that something was watched without leaking the unopened title.</a:t>
            </a:r>
          </a:p>
        </p:txBody>
      </p:sp>
      <p:sp>
        <p:nvSpPr>
          <p:cNvPr id="41" name="rule">
            <a:extLst xmlns:a="http://schemas.openxmlformats.org/drawingml/2006/main">
              <a:ext uri="{FF2B5EF4-FFF2-40B4-BE49-F238E27FC236}">
                <a16:creationId xmlns:a16="http://schemas.microsoft.com/office/drawing/2014/main" id="{6AC48F5C-3C3A-45D0-A46D-2D276375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6725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E155BF44-78D1-44AA-A63C-BB665993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38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04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26E975F0-8758-4C23-8140-FFE405BF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19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After Credits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F3A1E153-B0E4-4E60-B739-330BCD1D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24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Reviews and discussion unlock only after participants mark the film watched.</a:t>
            </a:r>
          </a:p>
        </p:txBody>
      </p:sp>
      <p:sp>
        <p:nvSpPr>
          <p:cNvPr id="45" name="rule">
            <a:extLst xmlns:a="http://schemas.openxmlformats.org/drawingml/2006/main">
              <a:ext uri="{FF2B5EF4-FFF2-40B4-BE49-F238E27FC236}">
                <a16:creationId xmlns:a16="http://schemas.microsoft.com/office/drawing/2014/main" id="{52F43D6B-D4D0-47E3-A2D7-15396F9B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50545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90173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9E0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text">
            <a:extLst xmlns:a="http://schemas.openxmlformats.org/drawingml/2006/main">
              <a:ext uri="{FF2B5EF4-FFF2-40B4-BE49-F238E27FC236}">
                <a16:creationId xmlns:a16="http://schemas.microsoft.com/office/drawing/2014/main" id="{20B2B9F4-8D57-4BDE-AAF0-B2900679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HOUSE DARK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157DF0C-6F43-4902-A9C8-733B3769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SEND UNDER SEAL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18AD0D6-7FD7-47C6-B66B-575777B0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D1BF74E-D49B-455B-A304-B4331BBB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D9D4F10-7D6A-4FEA-8D9A-8DADC9E4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The recommendation itself becomes an opening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AB7C361-CBEB-4997-B0D9-162A1482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A three-step flow keeps personal trust visible while removing the sales pitch.</a:t>
            </a:r>
          </a:p>
        </p:txBody>
      </p:sp>
      <p:sp>
        <p:nvSpPr>
          <p:cNvPr id="7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A4EAAB8A-4A7E-4A4F-AA6E-6C75B108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9527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9D5EC9DF-D6DC-40FA-A8AF-D8931DDD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14575"/>
            <a:ext cx="2819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55129671-730A-4694-8687-8A554B20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14575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9A4654E-0AC5-4C96-A627-DC32CBF3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11" name="live-dot">
            <a:extLst xmlns:a="http://schemas.openxmlformats.org/drawingml/2006/main">
              <a:ext uri="{FF2B5EF4-FFF2-40B4-BE49-F238E27FC236}">
                <a16:creationId xmlns:a16="http://schemas.microsoft.com/office/drawing/2014/main" id="{5D5328BA-F48D-43B7-BC47-B5748AD2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95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6332E85-D657-45DA-AFFC-05605286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193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13" name="mobile-nav">
            <a:extLst xmlns:a="http://schemas.openxmlformats.org/drawingml/2006/main">
              <a:ext uri="{FF2B5EF4-FFF2-40B4-BE49-F238E27FC236}">
                <a16:creationId xmlns:a16="http://schemas.microsoft.com/office/drawing/2014/main" id="{05EEFB97-78FE-43A7-B0E4-8D9B75F5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48325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27235E3-2F20-4E1D-A3FA-15245B55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674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15" name="nav-state">
            <a:extLst xmlns:a="http://schemas.openxmlformats.org/drawingml/2006/main">
              <a:ext uri="{FF2B5EF4-FFF2-40B4-BE49-F238E27FC236}">
                <a16:creationId xmlns:a16="http://schemas.microsoft.com/office/drawing/2014/main" id="{A6D6DC26-5864-4F1B-9863-8A7F793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435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551B5C7-4375-4E6D-961F-0660964A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8674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17" name="nav-state">
            <a:extLst xmlns:a="http://schemas.openxmlformats.org/drawingml/2006/main">
              <a:ext uri="{FF2B5EF4-FFF2-40B4-BE49-F238E27FC236}">
                <a16:creationId xmlns:a16="http://schemas.microsoft.com/office/drawing/2014/main" id="{4BE01DDC-FD83-443D-B0E6-1DAD3D49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7435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36FA866-7831-4A71-8DA9-DA6579B9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8674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19" name="nav-state">
            <a:extLst xmlns:a="http://schemas.openxmlformats.org/drawingml/2006/main">
              <a:ext uri="{FF2B5EF4-FFF2-40B4-BE49-F238E27FC236}">
                <a16:creationId xmlns:a16="http://schemas.microsoft.com/office/drawing/2014/main" id="{A9F46C4F-8B0C-4209-87B9-E66314E9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435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B8B2704-885C-4107-99EB-D47FA4FD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8674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21" name="nav-state">
            <a:extLst xmlns:a="http://schemas.openxmlformats.org/drawingml/2006/main">
              <a:ext uri="{FF2B5EF4-FFF2-40B4-BE49-F238E27FC236}">
                <a16:creationId xmlns:a16="http://schemas.microsoft.com/office/drawing/2014/main" id="{76B96751-6365-48FC-B664-0A1710F2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7435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D0C8F07-3355-44AA-A048-5A4F1072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05125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01  FIVE PEOPLE YOU TRUST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5894851-1724-4AB0-9767-99B3A93B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52775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02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02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Who gets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02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02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the opening?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CE0B2D66-1030-44C8-8E2B-9F500B34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67175"/>
            <a:ext cx="259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DF8C48C-E9F2-4029-983B-8697983A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81475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013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RORY KENT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D222AF74-3636-4DF5-8F59-02A30C78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524375"/>
            <a:ext cx="259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3014F50-5236-47A1-A5F5-828CDDCF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38675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013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AISHA PATEL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EA00BDDC-1900-4E6D-AA74-CFF1D660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81575"/>
            <a:ext cx="259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EDC6955-27B7-44B6-8139-826C49A7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095875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013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THE BALCONY CIRCLE</a:t>
            </a:r>
          </a:p>
        </p:txBody>
      </p:sp>
      <p:sp>
        <p:nvSpPr>
          <p:cNvPr id="30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59C39835-2A66-48B4-B177-58607452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47900"/>
            <a:ext cx="29527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3CC03E30-36BA-4AD0-BE91-648B3B9B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14575"/>
            <a:ext cx="2819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3A518C2A-3F63-4E22-9CD2-1B880596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14575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39FE98A-F0E7-4642-A2EE-CBA7FE0F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907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34" name="live-dot">
            <a:extLst xmlns:a="http://schemas.openxmlformats.org/drawingml/2006/main">
              <a:ext uri="{FF2B5EF4-FFF2-40B4-BE49-F238E27FC236}">
                <a16:creationId xmlns:a16="http://schemas.microsoft.com/office/drawing/2014/main" id="{6AE48C93-58CF-457A-BF22-B3B66838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184CE67E-F9C1-42B6-8598-BE379221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4193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36" name="mobile-nav">
            <a:extLst xmlns:a="http://schemas.openxmlformats.org/drawingml/2006/main">
              <a:ext uri="{FF2B5EF4-FFF2-40B4-BE49-F238E27FC236}">
                <a16:creationId xmlns:a16="http://schemas.microsoft.com/office/drawing/2014/main" id="{D3745B25-76B7-4E36-A6DE-BA676D3C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48325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E852D467-E9DC-45B4-A30A-2EF544DA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8674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38" name="nav-state">
            <a:extLst xmlns:a="http://schemas.openxmlformats.org/drawingml/2006/main">
              <a:ext uri="{FF2B5EF4-FFF2-40B4-BE49-F238E27FC236}">
                <a16:creationId xmlns:a16="http://schemas.microsoft.com/office/drawing/2014/main" id="{EFAEF1CD-5E2B-49CB-AE27-F2AA2FB3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7435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3ED9A511-4477-4D63-8FDF-B069F69F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8674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40" name="nav-state">
            <a:extLst xmlns:a="http://schemas.openxmlformats.org/drawingml/2006/main">
              <a:ext uri="{FF2B5EF4-FFF2-40B4-BE49-F238E27FC236}">
                <a16:creationId xmlns:a16="http://schemas.microsoft.com/office/drawing/2014/main" id="{35D14535-E2DA-43FD-9F4B-98DFF388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7435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C4A5A07F-DA03-4440-9E69-78D31D9B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42" name="nav-state">
            <a:extLst xmlns:a="http://schemas.openxmlformats.org/drawingml/2006/main">
              <a:ext uri="{FF2B5EF4-FFF2-40B4-BE49-F238E27FC236}">
                <a16:creationId xmlns:a16="http://schemas.microsoft.com/office/drawing/2014/main" id="{1D49D0B9-2CB3-4EF5-9397-85CF7CD0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7435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A144BF1C-7E5F-4C62-8688-8E0A8B66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8674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44" name="nav-state">
            <a:extLst xmlns:a="http://schemas.openxmlformats.org/drawingml/2006/main">
              <a:ext uri="{FF2B5EF4-FFF2-40B4-BE49-F238E27FC236}">
                <a16:creationId xmlns:a16="http://schemas.microsoft.com/office/drawing/2014/main" id="{4460D727-698D-4DC1-A333-03FDE783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7435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AC3A23AD-3701-4F10-9ED7-A5C95BAE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05125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02  YOUR FILM RECORD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69612902-5D9A-4BF1-9927-0240A6E5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52775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02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02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Choose something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02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02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you trust.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0E0EB88F-D093-46E1-AF41-F67F5D29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05275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82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AFTERSUN · OPENING 038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825B8396-9BC7-4310-92AB-908E0B4C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67225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QUIET  /  INTIMATE  /  LINGERING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CA150F5C-C014-4A65-AAFF-7BD147A7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05375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27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Only approved safe cues travel with the film.</a:t>
            </a:r>
          </a:p>
        </p:txBody>
      </p:sp>
      <p:sp>
        <p:nvSpPr>
          <p:cNvPr id="50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95798E34-0089-4A9C-A3AE-30856B14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29527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76C4973B-F134-4D46-9278-CAC47B47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314575"/>
            <a:ext cx="2819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6D24A102-A66D-4432-B5CE-52219F68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314575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C7DCFA73-92B8-4AC1-8D84-90637FFF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907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54" name="live-dot">
            <a:extLst xmlns:a="http://schemas.openxmlformats.org/drawingml/2006/main">
              <a:ext uri="{FF2B5EF4-FFF2-40B4-BE49-F238E27FC236}">
                <a16:creationId xmlns:a16="http://schemas.microsoft.com/office/drawing/2014/main" id="{AC18CAF2-AFB3-4A1A-853C-2702BA02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95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85C44B4C-F6C5-4AA5-BC4B-BCDA1943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4193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56" name="mobile-nav">
            <a:extLst xmlns:a="http://schemas.openxmlformats.org/drawingml/2006/main">
              <a:ext uri="{FF2B5EF4-FFF2-40B4-BE49-F238E27FC236}">
                <a16:creationId xmlns:a16="http://schemas.microsoft.com/office/drawing/2014/main" id="{EB9E8761-0AA9-48C3-B85E-888D734A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648325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BCEF495B-6E1F-45EC-A6F7-EF7276CC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8674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58" name="nav-state">
            <a:extLst xmlns:a="http://schemas.openxmlformats.org/drawingml/2006/main">
              <a:ext uri="{FF2B5EF4-FFF2-40B4-BE49-F238E27FC236}">
                <a16:creationId xmlns:a16="http://schemas.microsoft.com/office/drawing/2014/main" id="{6C824744-C595-4E40-BCFE-ABA76C80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7435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text">
            <a:extLst xmlns:a="http://schemas.openxmlformats.org/drawingml/2006/main">
              <a:ext uri="{FF2B5EF4-FFF2-40B4-BE49-F238E27FC236}">
                <a16:creationId xmlns:a16="http://schemas.microsoft.com/office/drawing/2014/main" id="{4ABE5D9C-B47A-4804-93B0-6EEF7A2B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8674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60" name="nav-state">
            <a:extLst xmlns:a="http://schemas.openxmlformats.org/drawingml/2006/main">
              <a:ext uri="{FF2B5EF4-FFF2-40B4-BE49-F238E27FC236}">
                <a16:creationId xmlns:a16="http://schemas.microsoft.com/office/drawing/2014/main" id="{A6B11952-D24C-4338-B56D-459094C2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7435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90416414-E6CA-4963-986C-3890797C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8674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62" name="nav-state">
            <a:extLst xmlns:a="http://schemas.openxmlformats.org/drawingml/2006/main">
              <a:ext uri="{FF2B5EF4-FFF2-40B4-BE49-F238E27FC236}">
                <a16:creationId xmlns:a16="http://schemas.microsoft.com/office/drawing/2014/main" id="{EBBFD2A7-B65B-400E-B782-7317E2CE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435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C4ECD934-2A5E-491D-84DD-2B959CB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8674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64" name="nav-state">
            <a:extLst xmlns:a="http://schemas.openxmlformats.org/drawingml/2006/main">
              <a:ext uri="{FF2B5EF4-FFF2-40B4-BE49-F238E27FC236}">
                <a16:creationId xmlns:a16="http://schemas.microsoft.com/office/drawing/2014/main" id="{E7A51C4D-2788-4D48-8D3F-95886D8A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7435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ext">
            <a:extLst xmlns:a="http://schemas.openxmlformats.org/drawingml/2006/main">
              <a:ext uri="{FF2B5EF4-FFF2-40B4-BE49-F238E27FC236}">
                <a16:creationId xmlns:a16="http://schemas.microsoft.com/office/drawing/2014/main" id="{C24A1FAA-EF09-4D13-A1E6-0FC09417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05125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03  TITLE FREE PREVIEW</a:t>
            </a:r>
          </a:p>
        </p:txBody>
      </p:sp>
      <p:sp>
        <p:nvSpPr>
          <p:cNvPr id="66" name="text">
            <a:extLst xmlns:a="http://schemas.openxmlformats.org/drawingml/2006/main">
              <a:ext uri="{FF2B5EF4-FFF2-40B4-BE49-F238E27FC236}">
                <a16:creationId xmlns:a16="http://schemas.microsoft.com/office/drawing/2014/main" id="{70B772CD-862A-4BA3-805E-D7F9C724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152775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02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02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Ready to send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02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02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under seal.</a:t>
            </a:r>
          </a:p>
        </p:txBody>
      </p:sp>
      <p:sp>
        <p:nvSpPr>
          <p:cNvPr id="67" name="send-preview">
            <a:extLst xmlns:a="http://schemas.openxmlformats.org/drawingml/2006/main">
              <a:ext uri="{FF2B5EF4-FFF2-40B4-BE49-F238E27FC236}">
                <a16:creationId xmlns:a16="http://schemas.microsoft.com/office/drawing/2014/main" id="{318E6B48-8B08-4955-B825-B002CE0B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048125"/>
            <a:ext cx="2590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C2932915-8EF4-43CC-8C2A-3DB096F3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20052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rPr>
              <a:t>TO RORY · TITLE WITHHELD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BA137CD1-CC54-4E78-A149-D84F93BF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524375"/>
            <a:ext cx="2324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5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“Do not look it up.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5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Just trust me.”</a:t>
            </a:r>
          </a:p>
        </p:txBody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80B40960-A86E-45ED-B7CF-23EF18BF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11492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SEND THE PRIVATE OPENING</a:t>
            </a:r>
          </a:p>
        </p:txBody>
      </p:sp>
    </p:spTree>
    <p:extLst>
      <p:ext uri="{BB962C8B-B14F-4D97-AF65-F5344CB8AC3E}">
        <p14:creationId xmlns:p14="http://schemas.microsoft.com/office/powerpoint/2010/main" val="11076639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9E0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0B09D6B8-DB32-4F0D-B224-04029202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HOUSE DARK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A3161C0-7504-4E35-90F7-3C85FEEA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PRIVATE OPENING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7601A60-ACED-4D21-84B2-9E3C048C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424CD18-3445-4D04-9EF3-57192865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28C8765-C8FA-433A-9512-C0FC461E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The recipient receives trust, never metadata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D1906E-5FFF-49B6-88E8-43A718FE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The title, year, poster, cast and runtime remain sealed through notification and acceptance.</a:t>
            </a:r>
          </a:p>
        </p:txBody>
      </p:sp>
      <p:sp>
        <p:nvSpPr>
          <p:cNvPr id="7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8C83D72E-2BBF-4B3A-B87E-BFD4DEA8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486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15CE5CAE-876A-432B-AA71-D5C87DD5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00275"/>
            <a:ext cx="33528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FEC65CD0-4492-4986-968C-68BD905B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00275"/>
            <a:ext cx="335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E5735BD-E6AD-41AE-A77E-B97B9002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764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11" name="live-dot">
            <a:extLst xmlns:a="http://schemas.openxmlformats.org/drawingml/2006/main">
              <a:ext uri="{FF2B5EF4-FFF2-40B4-BE49-F238E27FC236}">
                <a16:creationId xmlns:a16="http://schemas.microsoft.com/office/drawing/2014/main" id="{1CDEDA1F-AEF2-4634-874D-7712126D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381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46ABDB2-B8AA-47B4-8E86-5C5F5296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050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13" name="mobile-nav">
            <a:extLst xmlns:a="http://schemas.openxmlformats.org/drawingml/2006/main">
              <a:ext uri="{FF2B5EF4-FFF2-40B4-BE49-F238E27FC236}">
                <a16:creationId xmlns:a16="http://schemas.microsoft.com/office/drawing/2014/main" id="{E8F14EBF-45B9-4B07-9D7F-DB775484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00725"/>
            <a:ext cx="335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555B321-3B0B-48B3-94C5-99447112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0198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15" name="nav-state">
            <a:extLst xmlns:a="http://schemas.openxmlformats.org/drawingml/2006/main">
              <a:ext uri="{FF2B5EF4-FFF2-40B4-BE49-F238E27FC236}">
                <a16:creationId xmlns:a16="http://schemas.microsoft.com/office/drawing/2014/main" id="{136279E8-6292-4776-99D0-D48F2D67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8959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9073FB8-ED1B-4DE7-A691-4420876D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0198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17" name="nav-state">
            <a:extLst xmlns:a="http://schemas.openxmlformats.org/drawingml/2006/main">
              <a:ext uri="{FF2B5EF4-FFF2-40B4-BE49-F238E27FC236}">
                <a16:creationId xmlns:a16="http://schemas.microsoft.com/office/drawing/2014/main" id="{F12F57F9-6D12-48C5-AC24-208959F3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959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FCF5CE8-1820-43C5-B103-5A8CC285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60198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19" name="nav-state">
            <a:extLst xmlns:a="http://schemas.openxmlformats.org/drawingml/2006/main">
              <a:ext uri="{FF2B5EF4-FFF2-40B4-BE49-F238E27FC236}">
                <a16:creationId xmlns:a16="http://schemas.microsoft.com/office/drawing/2014/main" id="{D92A12B9-B03E-4157-80CA-3216E3ED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8959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F251415-83B8-4D6D-A9DA-ABE6ECA6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60198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21" name="nav-state">
            <a:extLst xmlns:a="http://schemas.openxmlformats.org/drawingml/2006/main">
              <a:ext uri="{FF2B5EF4-FFF2-40B4-BE49-F238E27FC236}">
                <a16:creationId xmlns:a16="http://schemas.microsoft.com/office/drawing/2014/main" id="{EF6F79A4-D6A9-400B-B49F-9546F850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8959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ACD0B35-8D04-431B-8127-8DDB982C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7908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YOUR SEAT IS WAITING</a:t>
            </a:r>
          </a:p>
        </p:txBody>
      </p:sp>
      <p:sp>
        <p:nvSpPr>
          <p:cNvPr id="23" name="notification">
            <a:extLst xmlns:a="http://schemas.openxmlformats.org/drawingml/2006/main">
              <a:ext uri="{FF2B5EF4-FFF2-40B4-BE49-F238E27FC236}">
                <a16:creationId xmlns:a16="http://schemas.microsoft.com/office/drawing/2014/main" id="{0B7766C1-630A-423C-BA9C-891DC201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114675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9525">
            <a:solidFill>
              <a:srgbClr val="080807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ACF2A86-CA33-4620-B5DC-F7971A2F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2289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HOUSE DARK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748904B-1A17-4226-943E-532973C5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09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20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A film is waiting under seal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690C5C6-B9F6-4358-91F9-53D8E5E0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19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863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Rory sent you a private opening. The title is withheld.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8559DC2-8334-4079-8D5D-9F776CF8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19575"/>
            <a:ext cx="3124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5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No title in the notification.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5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No poster in the preview.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5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No metadata in the share card.</a:t>
            </a:r>
          </a:p>
        </p:txBody>
      </p:sp>
      <p:sp>
        <p:nvSpPr>
          <p:cNvPr id="28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F793E4F0-8D51-46F8-8401-43B96B56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33600"/>
            <a:ext cx="3486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D166303E-7890-48BC-800B-135CC9EA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200275"/>
            <a:ext cx="33528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D4405ED2-F866-4BAD-83D3-A0EE4D19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200275"/>
            <a:ext cx="335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7B7BF8D8-579E-4AFA-847B-D82D477B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764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32" name="live-dot">
            <a:extLst xmlns:a="http://schemas.openxmlformats.org/drawingml/2006/main">
              <a:ext uri="{FF2B5EF4-FFF2-40B4-BE49-F238E27FC236}">
                <a16:creationId xmlns:a16="http://schemas.microsoft.com/office/drawing/2014/main" id="{13BD920A-B6AD-47B1-B98E-075EB4EC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381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4912E7A-DB29-48C9-A221-4914601C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050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34" name="mobile-nav">
            <a:extLst xmlns:a="http://schemas.openxmlformats.org/drawingml/2006/main">
              <a:ext uri="{FF2B5EF4-FFF2-40B4-BE49-F238E27FC236}">
                <a16:creationId xmlns:a16="http://schemas.microsoft.com/office/drawing/2014/main" id="{00FBF2F2-38CC-4AE8-ABA4-1D4E6D5B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800725"/>
            <a:ext cx="335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FA1E6E66-5C25-4ED4-AB56-8C04463E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60198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36" name="nav-state">
            <a:extLst xmlns:a="http://schemas.openxmlformats.org/drawingml/2006/main">
              <a:ext uri="{FF2B5EF4-FFF2-40B4-BE49-F238E27FC236}">
                <a16:creationId xmlns:a16="http://schemas.microsoft.com/office/drawing/2014/main" id="{360A1F99-C5A4-4B1D-907B-29F1A2A4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58959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2072204-D34F-4279-A1C2-81B4C4CE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0198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38" name="nav-state">
            <a:extLst xmlns:a="http://schemas.openxmlformats.org/drawingml/2006/main">
              <a:ext uri="{FF2B5EF4-FFF2-40B4-BE49-F238E27FC236}">
                <a16:creationId xmlns:a16="http://schemas.microsoft.com/office/drawing/2014/main" id="{35768F6D-5A98-4A13-A4A1-A99BCC5A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959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0D03C03C-4E04-444A-B419-5707F574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60198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40" name="nav-state">
            <a:extLst xmlns:a="http://schemas.openxmlformats.org/drawingml/2006/main">
              <a:ext uri="{FF2B5EF4-FFF2-40B4-BE49-F238E27FC236}">
                <a16:creationId xmlns:a16="http://schemas.microsoft.com/office/drawing/2014/main" id="{DC7191BF-097D-4FA3-B96D-360C110E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8959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46C0F47A-795E-4210-B769-961D1DE9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60198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42" name="nav-state">
            <a:extLst xmlns:a="http://schemas.openxmlformats.org/drawingml/2006/main">
              <a:ext uri="{FF2B5EF4-FFF2-40B4-BE49-F238E27FC236}">
                <a16:creationId xmlns:a16="http://schemas.microsoft.com/office/drawing/2014/main" id="{ACA3FFE5-4AB1-4ABE-955B-B2484AFF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8959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92083222-B3CA-4BC4-A330-58BD16B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7908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PRIVATE OPENING · TITLE WITHHELD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0D69AB34-CC00-47A5-B771-1AEF7623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057525"/>
            <a:ext cx="312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2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2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One film is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2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2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sealed for you.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DD67F3E3-9BE6-4F79-8771-DC75B7EF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91477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FROM RORY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94B95469-36D3-42D9-B79D-4D7C712A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200525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1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425" b="0" i="1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“Do not look it up. Just trust me.”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4D9C3D76-3D18-499D-886D-BFA4B72A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829175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863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QUIET  /  INTIMATE  /  LINGERING</a:t>
            </a:r>
          </a:p>
        </p:txBody>
      </p:sp>
      <p:sp>
        <p:nvSpPr>
          <p:cNvPr id="48" name="open-private">
            <a:extLst xmlns:a="http://schemas.openxmlformats.org/drawingml/2006/main">
              <a:ext uri="{FF2B5EF4-FFF2-40B4-BE49-F238E27FC236}">
                <a16:creationId xmlns:a16="http://schemas.microsoft.com/office/drawing/2014/main" id="{3C3008B6-8396-47AA-9B20-4B55F0CF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267325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2EA1577C-88B6-4A6B-B0F5-638DDE9C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381625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OPEN PRIVATE OPENING</a:t>
            </a:r>
          </a:p>
        </p:txBody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1E059683-686E-4517-835E-0A0BD198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384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01</a:t>
            </a:r>
          </a:p>
        </p:txBody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A58B8C3E-B368-4C67-BCDA-286D52A9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193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Accept unseen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9F5E2139-071F-4CFE-93A6-FA76C9FC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241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The member can enter or dismiss without penalty.</a:t>
            </a:r>
          </a:p>
        </p:txBody>
      </p:sp>
      <p:sp>
        <p:nvSpPr>
          <p:cNvPr id="53" name="rule">
            <a:extLst xmlns:a="http://schemas.openxmlformats.org/drawingml/2006/main">
              <a:ext uri="{FF2B5EF4-FFF2-40B4-BE49-F238E27FC236}">
                <a16:creationId xmlns:a16="http://schemas.microsoft.com/office/drawing/2014/main" id="{EDA6E8A4-67AE-4262-A0A2-1075D0C7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099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C292ABDB-A5C5-4BE3-A463-A8458685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4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02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C21CE8F1-8616-4E63-A7DB-B9917AE8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052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Same opening ritual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6DF93ECE-2E1C-4477-B619-F1C12FAE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100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The approved No Trailer plays before the server releases the title.</a:t>
            </a:r>
          </a:p>
        </p:txBody>
      </p:sp>
      <p:sp>
        <p:nvSpPr>
          <p:cNvPr id="57" name="rule">
            <a:extLst xmlns:a="http://schemas.openxmlformats.org/drawingml/2006/main">
              <a:ext uri="{FF2B5EF4-FFF2-40B4-BE49-F238E27FC236}">
                <a16:creationId xmlns:a16="http://schemas.microsoft.com/office/drawing/2014/main" id="{19556049-986A-4E68-88A3-20CBEDA1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9580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5648E15E-278C-4305-A9FD-455524EF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101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03</a:t>
            </a:r>
          </a:p>
        </p:txBody>
      </p:sp>
      <p:sp>
        <p:nvSpPr>
          <p:cNvPr id="59" name="text">
            <a:extLst xmlns:a="http://schemas.openxmlformats.org/drawingml/2006/main">
              <a:ext uri="{FF2B5EF4-FFF2-40B4-BE49-F238E27FC236}">
                <a16:creationId xmlns:a16="http://schemas.microsoft.com/office/drawing/2014/main" id="{2FDDF72D-5209-4ED8-B05D-33315812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910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Return loop</a:t>
            </a:r>
          </a:p>
        </p:txBody>
      </p:sp>
      <p:sp>
        <p:nvSpPr>
          <p:cNvPr id="60" name="text">
            <a:extLst xmlns:a="http://schemas.openxmlformats.org/drawingml/2006/main">
              <a:ext uri="{FF2B5EF4-FFF2-40B4-BE49-F238E27FC236}">
                <a16:creationId xmlns:a16="http://schemas.microsoft.com/office/drawing/2014/main" id="{F5B014A5-5EE8-46CA-9AB3-00CB6200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958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The sender is notified when the recipient reveals and leaves six words.</a:t>
            </a:r>
          </a:p>
        </p:txBody>
      </p:sp>
      <p:sp>
        <p:nvSpPr>
          <p:cNvPr id="61" name="rule">
            <a:extLst xmlns:a="http://schemas.openxmlformats.org/drawingml/2006/main">
              <a:ext uri="{FF2B5EF4-FFF2-40B4-BE49-F238E27FC236}">
                <a16:creationId xmlns:a16="http://schemas.microsoft.com/office/drawing/2014/main" id="{299909A0-992C-45B3-ABE4-02036B60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5816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64623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9E0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81E516A8-0919-4F8F-A087-D0409889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HOUSE DARK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B242A05-5060-4F34-A7D1-861CA691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E4A7A6D-EF9D-4B05-8C00-02BE50EA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9CACF60-72CE-41DA-BF5A-4AF3FF97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F415C79-4376-4052-AE31-64BDDB6D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Remember how it felt, not how it scored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FCD02B-B302-4D5D-8BFE-63A1D2C3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The archive is a private film record with programmes, six words and emotional discovery.</a:t>
            </a:r>
          </a:p>
        </p:txBody>
      </p:sp>
      <p:sp>
        <p:nvSpPr>
          <p:cNvPr id="7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F35F9073-0D5C-4FCE-8756-00342687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38862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871E73DA-42C3-4409-A33E-F01BA6C5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62175"/>
            <a:ext cx="375285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2889975B-7B2D-411A-BB53-507904B7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62175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E55DAF3-103E-443C-8D03-D253E37A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383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11" name="live-dot">
            <a:extLst xmlns:a="http://schemas.openxmlformats.org/drawingml/2006/main">
              <a:ext uri="{FF2B5EF4-FFF2-40B4-BE49-F238E27FC236}">
                <a16:creationId xmlns:a16="http://schemas.microsoft.com/office/drawing/2014/main" id="{9D338D37-A34D-4795-B952-28AD09CE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343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CE10907-B69B-4642-860C-B0BCE01D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669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13" name="mobile-nav">
            <a:extLst xmlns:a="http://schemas.openxmlformats.org/drawingml/2006/main">
              <a:ext uri="{FF2B5EF4-FFF2-40B4-BE49-F238E27FC236}">
                <a16:creationId xmlns:a16="http://schemas.microsoft.com/office/drawing/2014/main" id="{2BF7F47C-4216-4FDA-8C2A-AF70A53D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19775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DC4CB7F-5E21-4842-AAE7-B9472B0D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38850"/>
            <a:ext cx="9382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15" name="nav-state">
            <a:extLst xmlns:a="http://schemas.openxmlformats.org/drawingml/2006/main">
              <a:ext uri="{FF2B5EF4-FFF2-40B4-BE49-F238E27FC236}">
                <a16:creationId xmlns:a16="http://schemas.microsoft.com/office/drawing/2014/main" id="{B78FB5FF-3EBC-497E-BAF6-ABC6115A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431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69CF505-7242-4D04-BD5A-D931E522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588" y="6038850"/>
            <a:ext cx="9382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17" name="nav-state">
            <a:extLst xmlns:a="http://schemas.openxmlformats.org/drawingml/2006/main">
              <a:ext uri="{FF2B5EF4-FFF2-40B4-BE49-F238E27FC236}">
                <a16:creationId xmlns:a16="http://schemas.microsoft.com/office/drawing/2014/main" id="{004DFD66-27F0-4929-ACB1-07937CC1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644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5C70A83-151D-4E45-94FB-8C4E0B83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038850"/>
            <a:ext cx="9382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19" name="nav-state">
            <a:extLst xmlns:a="http://schemas.openxmlformats.org/drawingml/2006/main">
              <a:ext uri="{FF2B5EF4-FFF2-40B4-BE49-F238E27FC236}">
                <a16:creationId xmlns:a16="http://schemas.microsoft.com/office/drawing/2014/main" id="{7E264E38-0D03-4D07-8790-C6BD9389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181" y="59150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7E873A4-5D3D-45BD-80B1-B6178FA6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013" y="6038850"/>
            <a:ext cx="9382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21" name="nav-state">
            <a:extLst xmlns:a="http://schemas.openxmlformats.org/drawingml/2006/main">
              <a:ext uri="{FF2B5EF4-FFF2-40B4-BE49-F238E27FC236}">
                <a16:creationId xmlns:a16="http://schemas.microsoft.com/office/drawing/2014/main" id="{E436D2FC-2267-4BEB-9FE0-45DF2AC8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069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1186FBB-32D5-4494-8BEE-70F47702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7527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HOUSE ARCHIVE · PREVIOUS PROGRAMMES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307EE9E-A671-4CD2-B506-0042FD67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000375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4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Remember how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4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it felt.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03A1C9C-90A1-4302-B3E2-A36B4453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3857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ON THIS NIGHT · ONE YEAR AGO</a:t>
            </a:r>
          </a:p>
        </p:txBody>
      </p:sp>
      <p:sp>
        <p:nvSpPr>
          <p:cNvPr id="25" name="memory-card">
            <a:extLst xmlns:a="http://schemas.openxmlformats.org/drawingml/2006/main">
              <a:ext uri="{FF2B5EF4-FFF2-40B4-BE49-F238E27FC236}">
                <a16:creationId xmlns:a16="http://schemas.microsoft.com/office/drawing/2014/main" id="{1B6D9EF3-1D5C-45CB-B459-72003E44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105275"/>
            <a:ext cx="3524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CB696FC-D056-4FB1-A4D7-104F7DA2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5767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You watched something that stayed.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1A5C726-F77C-439E-9F04-3548EB85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59105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1">
                <a:solidFill>
                  <a:srgbClr val="B9A16C"/>
                </a:solidFill>
                <a:latin typeface="Newsreader"/>
                <a:ea typeface="Newsreader"/>
                <a:cs typeface="Newsreader"/>
              </a:defRPr>
            </a:pPr>
            <a:r>
              <a:rPr sz="975" b="0" i="1">
                <a:solidFill>
                  <a:srgbClr val="B9A16C"/>
                </a:solidFill>
                <a:latin typeface="Newsreader"/>
                <a:ea typeface="Newsreader"/>
                <a:cs typeface="Newsreader"/>
              </a:rPr>
              <a:t>“Memory flickers where love cannot speak.”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8639876-965D-4F97-B9A3-55697C94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09587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THE PROGRAMME WALL · BROWSE BY FEELING</a:t>
            </a:r>
          </a:p>
        </p:txBody>
      </p:sp>
      <p:sp>
        <p:nvSpPr>
          <p:cNvPr id="29" name="mood-filter">
            <a:extLst xmlns:a="http://schemas.openxmlformats.org/drawingml/2006/main">
              <a:ext uri="{FF2B5EF4-FFF2-40B4-BE49-F238E27FC236}">
                <a16:creationId xmlns:a16="http://schemas.microsoft.com/office/drawing/2014/main" id="{A31251D7-0985-4383-9ACE-601DE269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400675"/>
            <a:ext cx="1704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131F"/>
          </a:solidFill>
          <a:ln xmlns:a="http://schemas.openxmlformats.org/drawingml/2006/main" w="9525">
            <a:solidFill>
              <a:srgbClr val="080807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D511A589-4FDC-46AA-B971-C05E39BC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467350"/>
            <a:ext cx="17049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LONGING</a:t>
            </a:r>
          </a:p>
        </p:txBody>
      </p:sp>
      <p:sp>
        <p:nvSpPr>
          <p:cNvPr id="31" name="mood-filter">
            <a:extLst xmlns:a="http://schemas.openxmlformats.org/drawingml/2006/main">
              <a:ext uri="{FF2B5EF4-FFF2-40B4-BE49-F238E27FC236}">
                <a16:creationId xmlns:a16="http://schemas.microsoft.com/office/drawing/2014/main" id="{FB07BFC1-FF97-4A18-96A5-54ACFF7B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00675"/>
            <a:ext cx="1704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9525">
            <a:solidFill>
              <a:srgbClr val="080807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C7A54DC-C080-4B0F-9F31-A22CA9D2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67350"/>
            <a:ext cx="17049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MEMORY</a:t>
            </a:r>
          </a:p>
        </p:txBody>
      </p:sp>
      <p:sp>
        <p:nvSpPr>
          <p:cNvPr id="33" name="mood-filter">
            <a:extLst xmlns:a="http://schemas.openxmlformats.org/drawingml/2006/main">
              <a:ext uri="{FF2B5EF4-FFF2-40B4-BE49-F238E27FC236}">
                <a16:creationId xmlns:a16="http://schemas.microsoft.com/office/drawing/2014/main" id="{B5337FAC-649E-4D78-9BC1-E3B319AB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724525"/>
            <a:ext cx="1704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9525">
            <a:solidFill>
              <a:srgbClr val="080807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591E00D5-9835-43D3-831E-8EAA78D8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791200"/>
            <a:ext cx="17049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BECOMING</a:t>
            </a:r>
          </a:p>
        </p:txBody>
      </p:sp>
      <p:sp>
        <p:nvSpPr>
          <p:cNvPr id="35" name="mood-filter">
            <a:extLst xmlns:a="http://schemas.openxmlformats.org/drawingml/2006/main">
              <a:ext uri="{FF2B5EF4-FFF2-40B4-BE49-F238E27FC236}">
                <a16:creationId xmlns:a16="http://schemas.microsoft.com/office/drawing/2014/main" id="{92EAF1BA-3BE6-454B-A5E9-B91007B5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24525"/>
            <a:ext cx="1704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9525">
            <a:solidFill>
              <a:srgbClr val="080807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5CEE2142-5B3E-439F-83E8-F715F9DC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91200"/>
            <a:ext cx="17049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DESIRE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E303DF5F-BD67-4235-B5CE-933D670B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241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01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7DDDDCE3-4A50-4779-A9CE-41209DD8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05050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Archive and programmes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46F1DBF7-8FDC-4690-B5FE-E30F3CD6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Two sections only. A private record and finite seasons.</a:t>
            </a:r>
          </a:p>
        </p:txBody>
      </p:sp>
      <p:sp>
        <p:nvSpPr>
          <p:cNvPr id="40" name="rule">
            <a:extLst xmlns:a="http://schemas.openxmlformats.org/drawingml/2006/main">
              <a:ext uri="{FF2B5EF4-FFF2-40B4-BE49-F238E27FC236}">
                <a16:creationId xmlns:a16="http://schemas.microsoft.com/office/drawing/2014/main" id="{4F192B48-A256-46D5-A76C-B4468AF3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908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2FC18A71-1334-4075-BE60-58017BAA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62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02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32563421-3CAE-4DE2-8765-5AD9B080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Six words, no score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5004FFD4-1EAB-465A-9166-15070B85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48050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Memory becomes the organising principle rather than rating.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EDFD9E2E-A013-427E-ABF6-4F263169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290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58B41696-0DA9-4D84-8F3A-650C8655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00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03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321F8EC0-7461-4B59-B02C-A6F6B4A8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81450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Browse by feeling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1FB8D2AD-B313-40D2-AF59-AD10D512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6250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Emotional temperature replaces ranking and popularity charts.</a:t>
            </a:r>
          </a:p>
        </p:txBody>
      </p:sp>
      <p:sp>
        <p:nvSpPr>
          <p:cNvPr id="48" name="rule">
            <a:extLst xmlns:a="http://schemas.openxmlformats.org/drawingml/2006/main">
              <a:ext uri="{FF2B5EF4-FFF2-40B4-BE49-F238E27FC236}">
                <a16:creationId xmlns:a16="http://schemas.microsoft.com/office/drawing/2014/main" id="{99BD8106-52B3-4468-952A-E5C16012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672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13327406-8AED-403E-8E65-0716745C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38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04</a:t>
            </a:r>
          </a:p>
        </p:txBody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9B9651E6-0EDB-48E4-8A18-5C803899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19650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History import</a:t>
            </a:r>
          </a:p>
        </p:txBody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ADEF17E7-2A11-484B-B6BD-BB3D3B21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24450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6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Bring titles and watch dates from Letterboxd or IMDb. Ratings stay outside.</a:t>
            </a:r>
          </a:p>
        </p:txBody>
      </p:sp>
      <p:sp>
        <p:nvSpPr>
          <p:cNvPr id="52" name="rule">
            <a:extLst xmlns:a="http://schemas.openxmlformats.org/drawingml/2006/main">
              <a:ext uri="{FF2B5EF4-FFF2-40B4-BE49-F238E27FC236}">
                <a16:creationId xmlns:a16="http://schemas.microsoft.com/office/drawing/2014/main" id="{904893E9-97DB-45E5-9258-F2735F02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5054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61596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9E0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DEEB747B-D8E0-4131-B7A1-7B8D2C22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HOUSE DARK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BEE91AE-9CAA-44DC-AF58-F4D59596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PROGRAMMES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31DF1F4-2901-4B39-9540-85C90677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73BC3A8-D16F-44C2-8980-8B8EE96B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10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824FBB7-4400-4E9C-9A5F-524EA965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Finite seasons add depth without endless browse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0FE001A-3114-44CC-8D40-7E2E87A2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A programmer releases one sealed film at a time around a clear point of view.</a:t>
            </a:r>
          </a:p>
        </p:txBody>
      </p:sp>
      <p:sp>
        <p:nvSpPr>
          <p:cNvPr id="7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140F2DC2-D45F-4EA0-9665-1CEB6CCC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35242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152DD84D-671F-46DD-A9C0-6FB0E33E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00275"/>
            <a:ext cx="33909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B5B33583-DA9D-4F10-96E4-873B37E0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00275"/>
            <a:ext cx="3390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0075029-09D3-47A5-9893-8F0A240A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764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11" name="live-dot">
            <a:extLst xmlns:a="http://schemas.openxmlformats.org/drawingml/2006/main">
              <a:ext uri="{FF2B5EF4-FFF2-40B4-BE49-F238E27FC236}">
                <a16:creationId xmlns:a16="http://schemas.microsoft.com/office/drawing/2014/main" id="{C1F15DCE-5F12-4097-B854-F81F3804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81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9CA0C74-1A50-46AB-95C7-B4E8DD14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050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13" name="mobile-nav">
            <a:extLst xmlns:a="http://schemas.openxmlformats.org/drawingml/2006/main">
              <a:ext uri="{FF2B5EF4-FFF2-40B4-BE49-F238E27FC236}">
                <a16:creationId xmlns:a16="http://schemas.microsoft.com/office/drawing/2014/main" id="{7724925D-09A7-4AA5-8C70-00FD0CFD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800725"/>
            <a:ext cx="3390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91703CA-2BB0-46C5-B2E2-7D0949E9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019800"/>
            <a:ext cx="8477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15" name="nav-state">
            <a:extLst xmlns:a="http://schemas.openxmlformats.org/drawingml/2006/main">
              <a:ext uri="{FF2B5EF4-FFF2-40B4-BE49-F238E27FC236}">
                <a16:creationId xmlns:a16="http://schemas.microsoft.com/office/drawing/2014/main" id="{6AD89DE8-E285-42B1-9CE0-1C8FE65E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8" y="58959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35D7875-A5AF-4658-B5F7-903CBA65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019800"/>
            <a:ext cx="8477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17" name="nav-state">
            <a:extLst xmlns:a="http://schemas.openxmlformats.org/drawingml/2006/main">
              <a:ext uri="{FF2B5EF4-FFF2-40B4-BE49-F238E27FC236}">
                <a16:creationId xmlns:a16="http://schemas.microsoft.com/office/drawing/2014/main" id="{4BBDAB99-3F34-4562-B364-AA25D9E3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763" y="58959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0225D74-DF70-4C99-89F2-D773BB89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6019800"/>
            <a:ext cx="8477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19" name="nav-state">
            <a:extLst xmlns:a="http://schemas.openxmlformats.org/drawingml/2006/main">
              <a:ext uri="{FF2B5EF4-FFF2-40B4-BE49-F238E27FC236}">
                <a16:creationId xmlns:a16="http://schemas.microsoft.com/office/drawing/2014/main" id="{5EB5A9D6-4253-4F39-B431-10C24FD1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58959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DC9F5D9-810F-45BA-BF56-A6AED699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019800"/>
            <a:ext cx="8477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21" name="nav-state">
            <a:extLst xmlns:a="http://schemas.openxmlformats.org/drawingml/2006/main">
              <a:ext uri="{FF2B5EF4-FFF2-40B4-BE49-F238E27FC236}">
                <a16:creationId xmlns:a16="http://schemas.microsoft.com/office/drawing/2014/main" id="{430AA73C-4CA2-401F-813E-8D8842BC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13" y="58959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56DED49-99E0-4EBF-BD77-E4C0B923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790825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HOUSE PROGRAMMES · FINITE BY DESIGN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4317ADC-C312-4959-88DE-BE8F4C7D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05752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4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Cinema of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4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Longing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91D5668-BAB1-48BA-B662-85580BBD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95725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GUEST PROGRAMMER · CLARA NG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9293483-7E4C-45B2-8DD8-8A3E1D2E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200525"/>
            <a:ext cx="3162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13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13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Five Sunday films about bad timing, private grief and the difficult work of letting another person remain unknowable.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03A3D12-4CAA-408C-871B-356E9E3B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229225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FIVE FILMS · ONE RELEASED EACH SUNDAY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BE172E3-3874-4A22-9D3C-962FCA36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572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03  OF 05</a:t>
            </a:r>
          </a:p>
        </p:txBody>
      </p:sp>
      <p:sp>
        <p:nvSpPr>
          <p:cNvPr id="28" name="programme-progress">
            <a:extLst xmlns:a="http://schemas.openxmlformats.org/drawingml/2006/main">
              <a:ext uri="{FF2B5EF4-FFF2-40B4-BE49-F238E27FC236}">
                <a16:creationId xmlns:a16="http://schemas.microsoft.com/office/drawing/2014/main" id="{4439BCC2-5E99-49FD-A525-167EEFE3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629275"/>
            <a:ext cx="2114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rogramme-progress-active">
            <a:extLst xmlns:a="http://schemas.openxmlformats.org/drawingml/2006/main">
              <a:ext uri="{FF2B5EF4-FFF2-40B4-BE49-F238E27FC236}">
                <a16:creationId xmlns:a16="http://schemas.microsoft.com/office/drawing/2014/main" id="{F83841B5-11AD-4E94-AB87-16BD089A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629275"/>
            <a:ext cx="12687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244602FD-2AA6-4CEF-BFC8-6A8E5D74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33600"/>
            <a:ext cx="35242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FE5E33F7-E63A-4263-A52E-83B61C4A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00275"/>
            <a:ext cx="33909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221221E4-4660-41E6-B450-358FBA63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00275"/>
            <a:ext cx="3390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272FF0D-1B16-4F7A-AE45-C798F7D5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764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34" name="live-dot">
            <a:extLst xmlns:a="http://schemas.openxmlformats.org/drawingml/2006/main">
              <a:ext uri="{FF2B5EF4-FFF2-40B4-BE49-F238E27FC236}">
                <a16:creationId xmlns:a16="http://schemas.microsoft.com/office/drawing/2014/main" id="{EAC58D80-DBFA-4E76-B13B-5E426A31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81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3EF9A19D-3860-4D83-AF88-D53E8314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050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36" name="mobile-nav">
            <a:extLst xmlns:a="http://schemas.openxmlformats.org/drawingml/2006/main">
              <a:ext uri="{FF2B5EF4-FFF2-40B4-BE49-F238E27FC236}">
                <a16:creationId xmlns:a16="http://schemas.microsoft.com/office/drawing/2014/main" id="{42AF9CD6-672E-4F84-AB73-58807407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800725"/>
            <a:ext cx="3390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1938738C-0E47-4674-A615-7BE1F1A9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6019800"/>
            <a:ext cx="8477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38" name="nav-state">
            <a:extLst xmlns:a="http://schemas.openxmlformats.org/drawingml/2006/main">
              <a:ext uri="{FF2B5EF4-FFF2-40B4-BE49-F238E27FC236}">
                <a16:creationId xmlns:a16="http://schemas.microsoft.com/office/drawing/2014/main" id="{B1C496D9-E718-4D1A-B451-8E384FDB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338" y="58959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C72DA11C-464D-416A-A1D0-03F838D0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19800"/>
            <a:ext cx="8477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40" name="nav-state">
            <a:extLst xmlns:a="http://schemas.openxmlformats.org/drawingml/2006/main">
              <a:ext uri="{FF2B5EF4-FFF2-40B4-BE49-F238E27FC236}">
                <a16:creationId xmlns:a16="http://schemas.microsoft.com/office/drawing/2014/main" id="{C71819D9-DB88-43F9-89A0-0638E879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63" y="58959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A0742A0E-1E8B-4863-AFE1-C3316220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6019800"/>
            <a:ext cx="8477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42" name="nav-state">
            <a:extLst xmlns:a="http://schemas.openxmlformats.org/drawingml/2006/main">
              <a:ext uri="{FF2B5EF4-FFF2-40B4-BE49-F238E27FC236}">
                <a16:creationId xmlns:a16="http://schemas.microsoft.com/office/drawing/2014/main" id="{1311080D-1F70-4D6E-8354-4B2D0670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113" y="58959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19697262-E0DA-4E0A-848F-4BF622EF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019800"/>
            <a:ext cx="8477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44" name="nav-state">
            <a:extLst xmlns:a="http://schemas.openxmlformats.org/drawingml/2006/main">
              <a:ext uri="{FF2B5EF4-FFF2-40B4-BE49-F238E27FC236}">
                <a16:creationId xmlns:a16="http://schemas.microsoft.com/office/drawing/2014/main" id="{A35BE93A-47CB-4F7F-9C38-2924BE84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1513" y="58959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3ECBE66F-A54B-47FF-9509-8D6D51D5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90825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YOUR PRIVATE 2026 PROGRAMME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132595C6-1915-40A0-AED3-F0EF1A2F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05752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2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2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Ten films.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2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2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Twenty four days.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F5608788-7596-43CD-BB27-79C080AC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895725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1">
                <a:solidFill>
                  <a:srgbClr val="65131F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1">
                <a:solidFill>
                  <a:srgbClr val="65131F"/>
                </a:solidFill>
                <a:latin typeface="Newsreader"/>
                <a:ea typeface="Newsreader"/>
                <a:cs typeface="Newsreader"/>
              </a:rPr>
              <a:t>A finish line without a leaderboard.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79131188-65D1-4956-8CE5-C825271D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486275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38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01   RITUAL</a:t>
            </a:r>
          </a:p>
        </p:txBody>
      </p:sp>
      <p:sp>
        <p:nvSpPr>
          <p:cNvPr id="49" name="rule">
            <a:extLst xmlns:a="http://schemas.openxmlformats.org/drawingml/2006/main">
              <a:ext uri="{FF2B5EF4-FFF2-40B4-BE49-F238E27FC236}">
                <a16:creationId xmlns:a16="http://schemas.microsoft.com/office/drawing/2014/main" id="{3792B63F-296A-4D1F-B805-A6C78C7D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7053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E7A71130-37C3-4C19-B23F-E815E5E6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78155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38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02   DESIRE</a:t>
            </a:r>
          </a:p>
        </p:txBody>
      </p:sp>
      <p:sp>
        <p:nvSpPr>
          <p:cNvPr id="51" name="rule">
            <a:extLst xmlns:a="http://schemas.openxmlformats.org/drawingml/2006/main">
              <a:ext uri="{FF2B5EF4-FFF2-40B4-BE49-F238E27FC236}">
                <a16:creationId xmlns:a16="http://schemas.microsoft.com/office/drawing/2014/main" id="{98A7B329-5000-466E-81DE-209D1FE1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00062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50D8B6DE-3B68-4291-B3A3-ACFAF594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076825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38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03   OBSESSION</a:t>
            </a:r>
          </a:p>
        </p:txBody>
      </p:sp>
      <p:sp>
        <p:nvSpPr>
          <p:cNvPr id="53" name="rule">
            <a:extLst xmlns:a="http://schemas.openxmlformats.org/drawingml/2006/main">
              <a:ext uri="{FF2B5EF4-FFF2-40B4-BE49-F238E27FC236}">
                <a16:creationId xmlns:a16="http://schemas.microsoft.com/office/drawing/2014/main" id="{B90C44BC-4CC4-43DB-B94A-6C45BFBA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2959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7764EF0C-4742-4703-9071-871C945D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3721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38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04   MEMORY</a:t>
            </a:r>
          </a:p>
        </p:txBody>
      </p:sp>
      <p:sp>
        <p:nvSpPr>
          <p:cNvPr id="55" name="rule">
            <a:extLst xmlns:a="http://schemas.openxmlformats.org/drawingml/2006/main">
              <a:ext uri="{FF2B5EF4-FFF2-40B4-BE49-F238E27FC236}">
                <a16:creationId xmlns:a16="http://schemas.microsoft.com/office/drawing/2014/main" id="{01333D73-20AB-4BA7-9214-4717263F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59117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10877901-B9CE-4297-855A-0E7767DD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38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05   BECOMING</a:t>
            </a:r>
          </a:p>
        </p:txBody>
      </p:sp>
      <p:sp>
        <p:nvSpPr>
          <p:cNvPr id="57" name="rule">
            <a:extLst xmlns:a="http://schemas.openxmlformats.org/drawingml/2006/main">
              <a:ext uri="{FF2B5EF4-FFF2-40B4-BE49-F238E27FC236}">
                <a16:creationId xmlns:a16="http://schemas.microsoft.com/office/drawing/2014/main" id="{A8F8A20E-3B8F-4A78-A1FC-B592F5D4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8864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E4BA199C-D6AA-4E3D-A231-862DA9F8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384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01</a:t>
            </a:r>
          </a:p>
        </p:txBody>
      </p:sp>
      <p:sp>
        <p:nvSpPr>
          <p:cNvPr id="59" name="text">
            <a:extLst xmlns:a="http://schemas.openxmlformats.org/drawingml/2006/main">
              <a:ext uri="{FF2B5EF4-FFF2-40B4-BE49-F238E27FC236}">
                <a16:creationId xmlns:a16="http://schemas.microsoft.com/office/drawing/2014/main" id="{2F7DBFF3-ED16-408C-AE2C-931B2C35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193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Human authorship</a:t>
            </a:r>
          </a:p>
        </p:txBody>
      </p:sp>
      <p:sp>
        <p:nvSpPr>
          <p:cNvPr id="60" name="text">
            <a:extLst xmlns:a="http://schemas.openxmlformats.org/drawingml/2006/main">
              <a:ext uri="{FF2B5EF4-FFF2-40B4-BE49-F238E27FC236}">
                <a16:creationId xmlns:a16="http://schemas.microsoft.com/office/drawing/2014/main" id="{C4FC9351-5AEA-490C-B0C4-4C3AC376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1771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Programmer identity and reason for the season stay visible.</a:t>
            </a:r>
          </a:p>
        </p:txBody>
      </p:sp>
      <p:sp>
        <p:nvSpPr>
          <p:cNvPr id="61" name="rule">
            <a:extLst xmlns:a="http://schemas.openxmlformats.org/drawingml/2006/main">
              <a:ext uri="{FF2B5EF4-FFF2-40B4-BE49-F238E27FC236}">
                <a16:creationId xmlns:a16="http://schemas.microsoft.com/office/drawing/2014/main" id="{A67BA9B8-CE5D-4D19-8459-5794F231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09950"/>
            <a:ext cx="220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75AA9645-87DA-4D10-9917-17F86AA1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24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02</a:t>
            </a:r>
          </a:p>
        </p:txBody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2AD329F8-1F4A-4FEE-8677-B68B3CF2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05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Sealed cadence</a:t>
            </a:r>
          </a:p>
        </p:txBody>
      </p: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EF1F9710-6CF2-49B2-BA34-2D615CDB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10000"/>
            <a:ext cx="1771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The programme has a point of view without publishing future titles.</a:t>
            </a:r>
          </a:p>
        </p:txBody>
      </p:sp>
      <p:sp>
        <p:nvSpPr>
          <p:cNvPr id="65" name="rule">
            <a:extLst xmlns:a="http://schemas.openxmlformats.org/drawingml/2006/main">
              <a:ext uri="{FF2B5EF4-FFF2-40B4-BE49-F238E27FC236}">
                <a16:creationId xmlns:a16="http://schemas.microsoft.com/office/drawing/2014/main" id="{459DA106-CDFB-4516-B6A1-7CF0EB7C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95800"/>
            <a:ext cx="220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ext">
            <a:extLst xmlns:a="http://schemas.openxmlformats.org/drawingml/2006/main">
              <a:ext uri="{FF2B5EF4-FFF2-40B4-BE49-F238E27FC236}">
                <a16:creationId xmlns:a16="http://schemas.microsoft.com/office/drawing/2014/main" id="{9455C629-3961-4F15-BA2D-9ADBAD6A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101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03</a:t>
            </a:r>
          </a:p>
        </p:txBody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1106406C-3631-4560-ADAC-5B90C012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910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Clear finish line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BA4F87C1-783B-4503-AEDC-D5BA3FDF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95850"/>
            <a:ext cx="1771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Progress gives return a shape without streak pressure or competition.</a:t>
            </a:r>
          </a:p>
        </p:txBody>
      </p:sp>
      <p:sp>
        <p:nvSpPr>
          <p:cNvPr id="69" name="rule">
            <a:extLst xmlns:a="http://schemas.openxmlformats.org/drawingml/2006/main">
              <a:ext uri="{FF2B5EF4-FFF2-40B4-BE49-F238E27FC236}">
                <a16:creationId xmlns:a16="http://schemas.microsoft.com/office/drawing/2014/main" id="{9A2AE2D0-A64E-4677-993D-9564D400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81650"/>
            <a:ext cx="220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27831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9E0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text">
            <a:extLst xmlns:a="http://schemas.openxmlformats.org/drawingml/2006/main">
              <a:ext uri="{FF2B5EF4-FFF2-40B4-BE49-F238E27FC236}">
                <a16:creationId xmlns:a16="http://schemas.microsoft.com/office/drawing/2014/main" id="{1C635DB6-DD79-4C41-8CD3-4D8E9845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HOUSE DARK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567EA4F-C558-4FBB-91D4-9B500488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F9F66C-00C8-4474-AFCB-C33C6757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419169C-D114-45E4-9E10-64EFD51B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EC10FEE-7C10-4AEA-8B7A-08302730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Identity, ritual and membership live in one seat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A799C31-5A17-4DAA-9AED-2A73F978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The member controls privacy, history, services and house preferences without public performance.</a:t>
            </a:r>
          </a:p>
        </p:txBody>
      </p:sp>
      <p:sp>
        <p:nvSpPr>
          <p:cNvPr id="7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96B8E607-E4ED-455F-94F9-DA997A40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7147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A34BB7A5-9C50-4B50-BFF1-B6DFA1D4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62175"/>
            <a:ext cx="358140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41A83B1A-1E84-4D75-8473-37D884C0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62175"/>
            <a:ext cx="358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E5307BC-6847-4F00-B569-AAB2C913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11" name="live-dot">
            <a:extLst xmlns:a="http://schemas.openxmlformats.org/drawingml/2006/main">
              <a:ext uri="{FF2B5EF4-FFF2-40B4-BE49-F238E27FC236}">
                <a16:creationId xmlns:a16="http://schemas.microsoft.com/office/drawing/2014/main" id="{C28C374E-9077-409F-B882-4E48CE56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43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4C60EEF-F690-4809-8E5C-381E7381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13" name="mobile-nav">
            <a:extLst xmlns:a="http://schemas.openxmlformats.org/drawingml/2006/main">
              <a:ext uri="{FF2B5EF4-FFF2-40B4-BE49-F238E27FC236}">
                <a16:creationId xmlns:a16="http://schemas.microsoft.com/office/drawing/2014/main" id="{C3892EFD-9C80-4B2C-BDC6-7590D95B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819775"/>
            <a:ext cx="358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BA09B3C-D57A-4A29-AA72-83F66DEC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03885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15" name="nav-state">
            <a:extLst xmlns:a="http://schemas.openxmlformats.org/drawingml/2006/main">
              <a:ext uri="{FF2B5EF4-FFF2-40B4-BE49-F238E27FC236}">
                <a16:creationId xmlns:a16="http://schemas.microsoft.com/office/drawing/2014/main" id="{24D2A32E-6FEC-49B3-9C5B-29EE3499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424AEDA-3E4A-422C-B182-E89CF319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603885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17" name="nav-state">
            <a:extLst xmlns:a="http://schemas.openxmlformats.org/drawingml/2006/main">
              <a:ext uri="{FF2B5EF4-FFF2-40B4-BE49-F238E27FC236}">
                <a16:creationId xmlns:a16="http://schemas.microsoft.com/office/drawing/2014/main" id="{9E12A81A-6EF8-4F6F-BCAF-23B7C025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69CF4DB-1823-4965-BD7A-ADDF7750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603885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19" name="nav-state">
            <a:extLst xmlns:a="http://schemas.openxmlformats.org/drawingml/2006/main">
              <a:ext uri="{FF2B5EF4-FFF2-40B4-BE49-F238E27FC236}">
                <a16:creationId xmlns:a16="http://schemas.microsoft.com/office/drawing/2014/main" id="{051C2D08-E751-46F6-8C82-B6F523CB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BCAB992-3834-45D4-A07B-CE25A597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603885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21" name="nav-state">
            <a:extLst xmlns:a="http://schemas.openxmlformats.org/drawingml/2006/main">
              <a:ext uri="{FF2B5EF4-FFF2-40B4-BE49-F238E27FC236}">
                <a16:creationId xmlns:a16="http://schemas.microsoft.com/office/drawing/2014/main" id="{B45EBA39-5516-4FE0-872E-29EE0EA8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9150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0600514-0511-4FBE-949C-6AD02B93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527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MEMBER 01842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7F14ED6-287A-41F3-99D4-1B908DF9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00375"/>
            <a:ext cx="335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4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Your seat in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4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the dark.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48759C5-ACFF-48B0-B823-3C2095E8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8576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CURRENT RITUAL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CA96060-8FBA-4E6F-BED6-ACF73E10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338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18 OPENINGS  ·  7 NIGHTS IN A ROW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94EDACA-5B75-45C4-A78C-6D1D7A54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486275"/>
            <a:ext cx="3352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88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YOUR FILM RECORD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2C54DDA5-93A8-4B51-93ED-D0359C15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672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514FD3E-6247-4512-830A-CEB2FAF5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33925"/>
            <a:ext cx="3352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88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WATCH SERVICES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4772D6F0-E1FC-48A1-90D2-8587C6C2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1490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03A20F3-7948-4BF9-8A5C-48DC448E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81575"/>
            <a:ext cx="3352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88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HOUSE SETTINGS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C6E58D37-E7D5-49C0-B188-2A508277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625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55C88F6-B656-4653-8C81-AF66D674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29225"/>
            <a:ext cx="3352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88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VIEW MEMBERSHIP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2CC13DE8-913C-4B46-B331-258F6C9D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1020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463167ED-A966-427E-8FFF-902F4193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76875"/>
            <a:ext cx="3352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88" b="0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TERMS AND FILM OWNERSHIP</a:t>
            </a:r>
          </a:p>
        </p:txBody>
      </p:sp>
      <p:sp>
        <p:nvSpPr>
          <p:cNvPr id="35" name="rule">
            <a:extLst xmlns:a="http://schemas.openxmlformats.org/drawingml/2006/main">
              <a:ext uri="{FF2B5EF4-FFF2-40B4-BE49-F238E27FC236}">
                <a16:creationId xmlns:a16="http://schemas.microsoft.com/office/drawing/2014/main" id="{1BE54FC8-ABBF-4179-8977-44CB7BF0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578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22CD9802-7013-4513-8E56-25D0673B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95500"/>
            <a:ext cx="37147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7EB676C3-E589-4B34-A668-4C68DB0E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162175"/>
            <a:ext cx="358140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41B16362-ABBA-46EA-A49A-32F2F54E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162175"/>
            <a:ext cx="358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A8B00395-1E3A-4ACD-86D9-5003DA24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383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40" name="live-dot">
            <a:extLst xmlns:a="http://schemas.openxmlformats.org/drawingml/2006/main">
              <a:ext uri="{FF2B5EF4-FFF2-40B4-BE49-F238E27FC236}">
                <a16:creationId xmlns:a16="http://schemas.microsoft.com/office/drawing/2014/main" id="{8E8A8486-30ED-47E9-8B8F-94033138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43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9A6EBC47-1F74-4178-996E-F9299B49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42" name="mobile-nav">
            <a:extLst xmlns:a="http://schemas.openxmlformats.org/drawingml/2006/main">
              <a:ext uri="{FF2B5EF4-FFF2-40B4-BE49-F238E27FC236}">
                <a16:creationId xmlns:a16="http://schemas.microsoft.com/office/drawing/2014/main" id="{3005EF85-020F-4684-AF7F-92241824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819775"/>
            <a:ext cx="358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70ABFF02-25AE-4087-9A4C-921B5A64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603885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44" name="nav-state">
            <a:extLst xmlns:a="http://schemas.openxmlformats.org/drawingml/2006/main">
              <a:ext uri="{FF2B5EF4-FFF2-40B4-BE49-F238E27FC236}">
                <a16:creationId xmlns:a16="http://schemas.microsoft.com/office/drawing/2014/main" id="{E5F83C61-187F-4F89-8EF0-6C4EFC08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95242442-3254-47B4-87B8-BBA34C8D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603885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46" name="nav-state">
            <a:extLst xmlns:a="http://schemas.openxmlformats.org/drawingml/2006/main">
              <a:ext uri="{FF2B5EF4-FFF2-40B4-BE49-F238E27FC236}">
                <a16:creationId xmlns:a16="http://schemas.microsoft.com/office/drawing/2014/main" id="{8920F7F4-6952-4D2E-98FB-6EDECF18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DC6D3D0A-AA77-47D1-947B-A10059F7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603885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48" name="nav-state">
            <a:extLst xmlns:a="http://schemas.openxmlformats.org/drawingml/2006/main">
              <a:ext uri="{FF2B5EF4-FFF2-40B4-BE49-F238E27FC236}">
                <a16:creationId xmlns:a16="http://schemas.microsoft.com/office/drawing/2014/main" id="{06E5628C-2355-4EC6-AA0C-09B4E8CF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1D0EF26B-4DDC-406F-9CCC-85E6AD95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03885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50" name="nav-state">
            <a:extLst xmlns:a="http://schemas.openxmlformats.org/drawingml/2006/main">
              <a:ext uri="{FF2B5EF4-FFF2-40B4-BE49-F238E27FC236}">
                <a16:creationId xmlns:a16="http://schemas.microsoft.com/office/drawing/2014/main" id="{EDBAE10B-ABC8-4CD5-A279-BBA0A1B1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9150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A60BEAD5-9210-48BC-A2B4-9D9D7528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527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HOUSE DARK MEMBERSHIP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CCF81527-0318-476A-BB95-90228954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00375"/>
            <a:ext cx="335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17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17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Keep your seat.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17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175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Go deeper in the dark.</a:t>
            </a:r>
          </a:p>
        </p:txBody>
      </p:sp>
      <p:sp>
        <p:nvSpPr>
          <p:cNvPr id="53" name="beta-access">
            <a:extLst xmlns:a="http://schemas.openxmlformats.org/drawingml/2006/main">
              <a:ext uri="{FF2B5EF4-FFF2-40B4-BE49-F238E27FC236}">
                <a16:creationId xmlns:a16="http://schemas.microsoft.com/office/drawing/2014/main" id="{AECB38D1-E76D-42B1-827E-7294780B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19525"/>
            <a:ext cx="335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DA9BFEDB-284C-49EC-8957-07DB56EE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9528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PRIVATE BETA ACCESS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D13C6C74-7988-4EE0-B371-3CEE304D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9100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013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Every House Member feature is active.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EA13D00B-1851-45FC-B022-C1A7ACB1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244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FREE  A$0</a:t>
            </a:r>
          </a:p>
        </p:txBody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2AE2A922-31DC-498E-9B95-9C8BFFB9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244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HOUSE MEMBER  A$4.99 MONTHLY</a:t>
            </a:r>
          </a:p>
        </p:txBody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ECFE060C-C6D0-43F5-8E10-5720B8DC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863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163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No payment is collected during beta. The member must actively agree before billing begins.</a:t>
            </a:r>
          </a:p>
        </p:txBody>
      </p:sp>
      <p:sp>
        <p:nvSpPr>
          <p:cNvPr id="59" name="text">
            <a:extLst xmlns:a="http://schemas.openxmlformats.org/drawingml/2006/main">
              <a:ext uri="{FF2B5EF4-FFF2-40B4-BE49-F238E27FC236}">
                <a16:creationId xmlns:a16="http://schemas.microsoft.com/office/drawing/2014/main" id="{323630F7-F67F-486C-8BD2-6605650A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384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01</a:t>
            </a:r>
          </a:p>
        </p:txBody>
      </p:sp>
      <p:sp>
        <p:nvSpPr>
          <p:cNvPr id="60" name="text">
            <a:extLst xmlns:a="http://schemas.openxmlformats.org/drawingml/2006/main">
              <a:ext uri="{FF2B5EF4-FFF2-40B4-BE49-F238E27FC236}">
                <a16:creationId xmlns:a16="http://schemas.microsoft.com/office/drawing/2014/main" id="{3DB67199-DD21-46EB-A2FD-B53DF7C8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193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Private by default</a:t>
            </a:r>
          </a:p>
        </p:txBody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C9AFA420-7B6D-4E62-BFFA-9D562336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History, saves, reviews and services are not public unless deliberately shared.</a:t>
            </a:r>
          </a:p>
        </p:txBody>
      </p:sp>
      <p:sp>
        <p:nvSpPr>
          <p:cNvPr id="62" name="rule">
            <a:extLst xmlns:a="http://schemas.openxmlformats.org/drawingml/2006/main">
              <a:ext uri="{FF2B5EF4-FFF2-40B4-BE49-F238E27FC236}">
                <a16:creationId xmlns:a16="http://schemas.microsoft.com/office/drawing/2014/main" id="{A2BA8988-50E0-4129-9540-E45528E0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099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AD7A81A7-D0A3-45BC-9E76-210CFDFE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24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02</a:t>
            </a:r>
          </a:p>
        </p:txBody>
      </p: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9A37C934-3B1D-4E76-B0D3-EF0AAF25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052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Membership is depth</a:t>
            </a:r>
          </a:p>
        </p:txBody>
      </p:sp>
      <p:sp>
        <p:nvSpPr>
          <p:cNvPr id="65" name="text">
            <a:extLst xmlns:a="http://schemas.openxmlformats.org/drawingml/2006/main">
              <a:ext uri="{FF2B5EF4-FFF2-40B4-BE49-F238E27FC236}">
                <a16:creationId xmlns:a16="http://schemas.microsoft.com/office/drawing/2014/main" id="{5E23E9B3-F36D-40FA-9210-F3BDA1FA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1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Paid value comes from unlimited sends, Circles, archive and programming.</a:t>
            </a:r>
          </a:p>
        </p:txBody>
      </p:sp>
      <p:sp>
        <p:nvSpPr>
          <p:cNvPr id="66" name="rule">
            <a:extLst xmlns:a="http://schemas.openxmlformats.org/drawingml/2006/main">
              <a:ext uri="{FF2B5EF4-FFF2-40B4-BE49-F238E27FC236}">
                <a16:creationId xmlns:a16="http://schemas.microsoft.com/office/drawing/2014/main" id="{950A5688-4698-4CDE-A1E9-2BB10D54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958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FF9BC280-6A02-44A0-B435-01188A33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101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03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DB92D5EA-482D-464B-AE67-17FFF806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910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No surprise billing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F884E6EC-87A6-48F9-A0D4-665F33D1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958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Beta access is free. Billing begins only after active consent.</a:t>
            </a:r>
          </a:p>
        </p:txBody>
      </p:sp>
      <p:sp>
        <p:nvSpPr>
          <p:cNvPr id="70" name="rule">
            <a:extLst xmlns:a="http://schemas.openxmlformats.org/drawingml/2006/main">
              <a:ext uri="{FF2B5EF4-FFF2-40B4-BE49-F238E27FC236}">
                <a16:creationId xmlns:a16="http://schemas.microsoft.com/office/drawing/2014/main" id="{A58D49B6-8AE7-40A5-B4D0-493F9B1A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816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14072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9E0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text">
            <a:extLst xmlns:a="http://schemas.openxmlformats.org/drawingml/2006/main">
              <a:ext uri="{FF2B5EF4-FFF2-40B4-BE49-F238E27FC236}">
                <a16:creationId xmlns:a16="http://schemas.microsoft.com/office/drawing/2014/main" id="{09ED5D5D-4E1D-4EEC-8028-E04F8804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HOUSE DARK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E6383A7-BA09-4929-B381-5E2915F9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OWNER OPERATION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A92DFF8-95A3-45B8-8C81-40398A8B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78CED16-05E8-4C68-84CC-9E3FA3EB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12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CC651CA-C0E6-45C3-BC91-224EEF5F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The programming desk makes the ritual repeatable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3833E1F-F88B-4617-8345-1783EF8A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Automation supports production. Rights review and named human approval stay permanent.</a:t>
            </a:r>
          </a:p>
        </p:txBody>
      </p:sp>
      <p:sp>
        <p:nvSpPr>
          <p:cNvPr id="7" name="mobile-artboard">
            <a:extLst xmlns:a="http://schemas.openxmlformats.org/drawingml/2006/main">
              <a:ext uri="{FF2B5EF4-FFF2-40B4-BE49-F238E27FC236}">
                <a16:creationId xmlns:a16="http://schemas.microsoft.com/office/drawing/2014/main" id="{11B47389-6566-4415-AAC1-0B66188C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40386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bile-screen">
            <a:extLst xmlns:a="http://schemas.openxmlformats.org/drawingml/2006/main">
              <a:ext uri="{FF2B5EF4-FFF2-40B4-BE49-F238E27FC236}">
                <a16:creationId xmlns:a16="http://schemas.microsoft.com/office/drawing/2014/main" id="{DC8BC052-1ECD-49CF-A1D1-2A967806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162175"/>
            <a:ext cx="390525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bile-header">
            <a:extLst xmlns:a="http://schemas.openxmlformats.org/drawingml/2006/main">
              <a:ext uri="{FF2B5EF4-FFF2-40B4-BE49-F238E27FC236}">
                <a16:creationId xmlns:a16="http://schemas.microsoft.com/office/drawing/2014/main" id="{EAD11860-78A4-49AA-8822-3F2EB902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162175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8AE935D-39FE-41EC-BDD9-66D02814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383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HOUSE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200" b="0" i="1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DARK</a:t>
            </a:r>
          </a:p>
        </p:txBody>
      </p:sp>
      <p:sp>
        <p:nvSpPr>
          <p:cNvPr id="11" name="live-dot">
            <a:extLst xmlns:a="http://schemas.openxmlformats.org/drawingml/2006/main">
              <a:ext uri="{FF2B5EF4-FFF2-40B4-BE49-F238E27FC236}">
                <a16:creationId xmlns:a16="http://schemas.microsoft.com/office/drawing/2014/main" id="{99626A78-91E2-4F7E-86B8-70E21155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343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6A000C-FDB5-4E4A-B777-124092BC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669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7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OPEN</a:t>
            </a:r>
          </a:p>
        </p:txBody>
      </p:sp>
      <p:sp>
        <p:nvSpPr>
          <p:cNvPr id="13" name="mobile-nav">
            <a:extLst xmlns:a="http://schemas.openxmlformats.org/drawingml/2006/main">
              <a:ext uri="{FF2B5EF4-FFF2-40B4-BE49-F238E27FC236}">
                <a16:creationId xmlns:a16="http://schemas.microsoft.com/office/drawing/2014/main" id="{872216B8-40DF-4C0A-92BB-4D75F8F1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819775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D7745A0-5881-4E27-BCC7-78BE821C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038850"/>
            <a:ext cx="9763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TONIGHT</a:t>
            </a:r>
          </a:p>
        </p:txBody>
      </p:sp>
      <p:sp>
        <p:nvSpPr>
          <p:cNvPr id="15" name="nav-state">
            <a:extLst xmlns:a="http://schemas.openxmlformats.org/drawingml/2006/main">
              <a:ext uri="{FF2B5EF4-FFF2-40B4-BE49-F238E27FC236}">
                <a16:creationId xmlns:a16="http://schemas.microsoft.com/office/drawing/2014/main" id="{D4A394C5-11F3-459C-9086-D9DBB922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331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D3B7AB6-E65C-4BE2-88B6-B4589FD9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38" y="6038850"/>
            <a:ext cx="9763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CIRCLE</a:t>
            </a:r>
          </a:p>
        </p:txBody>
      </p:sp>
      <p:sp>
        <p:nvSpPr>
          <p:cNvPr id="17" name="nav-state">
            <a:extLst xmlns:a="http://schemas.openxmlformats.org/drawingml/2006/main">
              <a:ext uri="{FF2B5EF4-FFF2-40B4-BE49-F238E27FC236}">
                <a16:creationId xmlns:a16="http://schemas.microsoft.com/office/drawing/2014/main" id="{D9C53D5E-7BBE-416D-8E22-7B6BF590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644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83A03FA-EE2D-4E73-B87E-A3E0B764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38850"/>
            <a:ext cx="9763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LIBRARY</a:t>
            </a:r>
          </a:p>
        </p:txBody>
      </p:sp>
      <p:sp>
        <p:nvSpPr>
          <p:cNvPr id="19" name="nav-state">
            <a:extLst xmlns:a="http://schemas.openxmlformats.org/drawingml/2006/main">
              <a:ext uri="{FF2B5EF4-FFF2-40B4-BE49-F238E27FC236}">
                <a16:creationId xmlns:a16="http://schemas.microsoft.com/office/drawing/2014/main" id="{C4D67BFC-39DD-4021-B8C2-ACB257E7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956" y="591502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832A0B8-F1AC-428F-B1D7-C3DB243A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63" y="6038850"/>
            <a:ext cx="9763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638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YOU</a:t>
            </a:r>
          </a:p>
        </p:txBody>
      </p:sp>
      <p:sp>
        <p:nvSpPr>
          <p:cNvPr id="21" name="nav-state">
            <a:extLst xmlns:a="http://schemas.openxmlformats.org/drawingml/2006/main">
              <a:ext uri="{FF2B5EF4-FFF2-40B4-BE49-F238E27FC236}">
                <a16:creationId xmlns:a16="http://schemas.microsoft.com/office/drawing/2014/main" id="{87E0A2A6-4D17-4B6A-B04A-F6430AD6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594" y="59150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67F9097-38F5-4029-9375-9B03A1E7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75272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HOUSE DARK · PROGRAMMING DESK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EE6CFC3-2100-4FDF-B67D-15B54251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019425"/>
            <a:ext cx="3676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2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2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Prepare the next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2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2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sealed opening.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6128453-E608-4F83-9ADF-2627EDB7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01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4CB244F-B6A9-4E29-9CE5-7F7F5613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1952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BRIEF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B3906CC-C0E9-4CB8-9D0A-ECD72197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81952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938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Mood only. No plot language.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44236FD0-B724-4E6A-A865-A19D7A5D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124325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EB11763-07EC-4817-BC16-9FFA7BEF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200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02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151DB1B-999B-4BAC-B30E-E42E547B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20052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TREATMENTS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A1666A9-0268-42DD-A213-611FBFDE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20052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938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Three materially different directions.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82DD586D-03E5-41F6-8C1E-38C0118C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505325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D14D899-F9B8-41ED-B285-02AB5204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581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03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5C45D06-8773-4C48-A799-D93620F4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58152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SPOILER CLEARANCE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06BA8924-1790-441A-ABC5-F1B05277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58152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938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Reject literal or recognisable clues.</a:t>
            </a:r>
          </a:p>
        </p:txBody>
      </p:sp>
      <p:sp>
        <p:nvSpPr>
          <p:cNvPr id="35" name="rule">
            <a:extLst xmlns:a="http://schemas.openxmlformats.org/drawingml/2006/main">
              <a:ext uri="{FF2B5EF4-FFF2-40B4-BE49-F238E27FC236}">
                <a16:creationId xmlns:a16="http://schemas.microsoft.com/office/drawing/2014/main" id="{A6D73241-9210-4260-98D3-21B3EA5C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86325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1BCAE52A-271E-4DFF-B0A8-BFE600BC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962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04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5B0935AA-7224-4B59-8575-562DFCEF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6252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RIGHTS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7EA245E6-F5F7-4763-A120-BDBEA281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96252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938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Every visual and audio element cleared.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EA823389-D20A-4FFF-AF1F-BB211B6D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267325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9DC33D90-BCBE-420E-99F7-45EF8E2C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343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05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6D7637F3-6A4F-4B5C-884E-8331F836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34352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HUMAN APPROVAL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A63E3B7B-ED22-4D87-9632-7B94C6DF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34352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938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A named editor publishes the master.</a:t>
            </a:r>
          </a:p>
        </p:txBody>
      </p:sp>
      <p:sp>
        <p:nvSpPr>
          <p:cNvPr id="43" name="rule">
            <a:extLst xmlns:a="http://schemas.openxmlformats.org/drawingml/2006/main">
              <a:ext uri="{FF2B5EF4-FFF2-40B4-BE49-F238E27FC236}">
                <a16:creationId xmlns:a16="http://schemas.microsoft.com/office/drawing/2014/main" id="{7B6A2A15-8C32-4CB4-8116-02C4C9E3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648325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A1E9A359-F9FB-46B3-8E43-6EA5B61E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241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01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8BAA3CC6-07B4-4C65-AC3A-1A7178BB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050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Unique every night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D693EAE2-722F-4F17-B5A0-C026DE87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985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Choose architectural light, macro material, practical shadow, stop motion, graphic rhythm or another approved language.</a:t>
            </a:r>
          </a:p>
        </p:txBody>
      </p:sp>
      <p:sp>
        <p:nvSpPr>
          <p:cNvPr id="47" name="rule">
            <a:extLst xmlns:a="http://schemas.openxmlformats.org/drawingml/2006/main">
              <a:ext uri="{FF2B5EF4-FFF2-40B4-BE49-F238E27FC236}">
                <a16:creationId xmlns:a16="http://schemas.microsoft.com/office/drawing/2014/main" id="{3FB1E805-13BD-43F1-9996-5B38C2AC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90850"/>
            <a:ext cx="516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FC24568D-2460-4713-B717-591B3064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62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02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F8C7BB80-437C-4E55-BA71-3FD3AD1E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Original material only</a:t>
            </a:r>
          </a:p>
        </p:txBody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3665E849-1BC5-4350-9E93-AAAEB768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4805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No protected footage, music, faces, characters, locations or recognisable story beats.</a:t>
            </a:r>
          </a:p>
        </p:txBody>
      </p:sp>
      <p:sp>
        <p:nvSpPr>
          <p:cNvPr id="51" name="rule">
            <a:extLst xmlns:a="http://schemas.openxmlformats.org/drawingml/2006/main">
              <a:ext uri="{FF2B5EF4-FFF2-40B4-BE49-F238E27FC236}">
                <a16:creationId xmlns:a16="http://schemas.microsoft.com/office/drawing/2014/main" id="{538F787F-A4EE-4E92-B194-7103A99D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29050"/>
            <a:ext cx="516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6DCE99B8-1BA3-4278-A01C-43730AEE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00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03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AD0330E9-3080-48EA-BC9B-7E435AA5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814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Owner only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D9452936-A6CA-4259-9B75-29A253E4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8625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Programming, uploads, health metrics and publication controls never appear to signed-out members.</a:t>
            </a:r>
          </a:p>
        </p:txBody>
      </p:sp>
      <p:sp>
        <p:nvSpPr>
          <p:cNvPr id="55" name="rule">
            <a:extLst xmlns:a="http://schemas.openxmlformats.org/drawingml/2006/main">
              <a:ext uri="{FF2B5EF4-FFF2-40B4-BE49-F238E27FC236}">
                <a16:creationId xmlns:a16="http://schemas.microsoft.com/office/drawing/2014/main" id="{5BA62A04-E999-49BE-A1AF-8C4FE36B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67250"/>
            <a:ext cx="516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60A5ACE5-A4DE-409F-A41C-8852486D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38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04</a:t>
            </a:r>
          </a:p>
        </p:txBody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00F74620-C119-4A2F-9220-3E1F2F16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96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Human approval</a:t>
            </a:r>
          </a:p>
        </p:txBody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C0E414AC-D5D6-418A-AED8-381A0921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2445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No automated score can publish a No Trailer. If there is doubt, remove the clue.</a:t>
            </a:r>
          </a:p>
        </p:txBody>
      </p:sp>
      <p:sp>
        <p:nvSpPr>
          <p:cNvPr id="59" name="rule">
            <a:extLst xmlns:a="http://schemas.openxmlformats.org/drawingml/2006/main">
              <a:ext uri="{FF2B5EF4-FFF2-40B4-BE49-F238E27FC236}">
                <a16:creationId xmlns:a16="http://schemas.microsoft.com/office/drawing/2014/main" id="{62737399-F563-463E-A571-665314BA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05450"/>
            <a:ext cx="516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30192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9E0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7DA4A81E-DA72-4DBA-A319-D4D8CD6E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HOUSE DARK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F108BC4-F268-4D56-8779-579DC30D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UI SYSTEM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778B692-27E2-4770-9F87-7974D418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2C58D58-6B8F-4303-9ECA-7DDA4C0D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13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2FE11F5-8137-4618-8786-17AD66B8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360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The interface feels cinematic through restraint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1B29CB7-E94A-4B04-8A37-FEFD9339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50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Typography, paper, darkness and timing do the work. Decorative film props do not.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C45868B-C1B3-4B04-87A3-C826C529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CORE PALETTE</a:t>
            </a:r>
          </a:p>
        </p:txBody>
      </p:sp>
      <p:sp>
        <p:nvSpPr>
          <p:cNvPr id="8" name="swatch-0">
            <a:extLst xmlns:a="http://schemas.openxmlformats.org/drawingml/2006/main">
              <a:ext uri="{FF2B5EF4-FFF2-40B4-BE49-F238E27FC236}">
                <a16:creationId xmlns:a16="http://schemas.microsoft.com/office/drawing/2014/main" id="{57604219-7584-4A8C-A0ED-69E044EF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/>
          </a:solidFill>
          <a:ln xmlns:a="http://schemas.openxmlformats.org/drawingml/2006/main" w="9525">
            <a:solidFill>
              <a:srgbClr val="08080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A097764-18A7-4F84-B93F-03D90D63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PROGRAMME PAPER</a:t>
            </a:r>
          </a:p>
        </p:txBody>
      </p:sp>
      <p:sp>
        <p:nvSpPr>
          <p:cNvPr id="10" name="swatch-1">
            <a:extLst xmlns:a="http://schemas.openxmlformats.org/drawingml/2006/main">
              <a:ext uri="{FF2B5EF4-FFF2-40B4-BE49-F238E27FC236}">
                <a16:creationId xmlns:a16="http://schemas.microsoft.com/office/drawing/2014/main" id="{D3BC5C28-9BEA-46DC-BAE6-818F380F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717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9525">
            <a:solidFill>
              <a:srgbClr val="08080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EE185DA-89BF-4FE6-B2D0-BD1E8F1E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670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PAPER 2</a:t>
            </a:r>
          </a:p>
        </p:txBody>
      </p:sp>
      <p:sp>
        <p:nvSpPr>
          <p:cNvPr id="12" name="swatch-2">
            <a:extLst xmlns:a="http://schemas.openxmlformats.org/drawingml/2006/main">
              <a:ext uri="{FF2B5EF4-FFF2-40B4-BE49-F238E27FC236}">
                <a16:creationId xmlns:a16="http://schemas.microsoft.com/office/drawing/2014/main" id="{A6D5204C-C2E9-4C35-8516-8612C295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717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7"/>
          </a:solidFill>
          <a:ln xmlns:a="http://schemas.openxmlformats.org/drawingml/2006/main" w="9525">
            <a:solidFill>
              <a:srgbClr val="080807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17C81AC-221B-4EF5-B001-3B4B31F0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670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HOUSE BLACK</a:t>
            </a:r>
          </a:p>
        </p:txBody>
      </p:sp>
      <p:sp>
        <p:nvSpPr>
          <p:cNvPr id="14" name="swatch-3">
            <a:extLst xmlns:a="http://schemas.openxmlformats.org/drawingml/2006/main">
              <a:ext uri="{FF2B5EF4-FFF2-40B4-BE49-F238E27FC236}">
                <a16:creationId xmlns:a16="http://schemas.microsoft.com/office/drawing/2014/main" id="{B16CB357-2668-4C8D-93F2-6B8AD3F4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131F"/>
          </a:solidFill>
          <a:ln xmlns:a="http://schemas.openxmlformats.org/drawingml/2006/main" w="9525">
            <a:solidFill>
              <a:srgbClr val="08080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D3817B5-163B-45E7-84A7-76226101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OXBLOOD</a:t>
            </a:r>
          </a:p>
        </p:txBody>
      </p:sp>
      <p:sp>
        <p:nvSpPr>
          <p:cNvPr id="16" name="swatch-4">
            <a:extLst xmlns:a="http://schemas.openxmlformats.org/drawingml/2006/main">
              <a:ext uri="{FF2B5EF4-FFF2-40B4-BE49-F238E27FC236}">
                <a16:creationId xmlns:a16="http://schemas.microsoft.com/office/drawing/2014/main" id="{77F4AE37-9422-44C9-85AD-41F1F7AE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909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9525">
            <a:solidFill>
              <a:srgbClr val="080807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FA34649-9D3B-4BED-AEFE-56E7E8B0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862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BRASS</a:t>
            </a:r>
          </a:p>
        </p:txBody>
      </p:sp>
      <p:sp>
        <p:nvSpPr>
          <p:cNvPr id="18" name="swatch-5">
            <a:extLst xmlns:a="http://schemas.openxmlformats.org/drawingml/2006/main">
              <a:ext uri="{FF2B5EF4-FFF2-40B4-BE49-F238E27FC236}">
                <a16:creationId xmlns:a16="http://schemas.microsoft.com/office/drawing/2014/main" id="{CDA62388-E458-48DF-ACF1-AAAD650F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909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24C"/>
          </a:solidFill>
          <a:ln xmlns:a="http://schemas.openxmlformats.org/drawingml/2006/main" w="9525">
            <a:solidFill>
              <a:srgbClr val="080807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0311C0B-46A1-45CF-ABE0-E62CA088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862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7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BOTTLE GREEN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9045F83-5DF7-4504-8B11-F89052B3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TYPOGRAPHY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1A67363-4EFB-43DC-B281-8DD6948F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25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Newsreader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1D96D24-52EA-4FB4-8957-F721DD70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050" b="0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Editorial statements and reflective copy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8EDB88F-CB27-41B1-8DF3-AE94422C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0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025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BARLOW CONDENSED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AD0D6F6-F9C9-4DE2-B155-B985592D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5131F"/>
                </a:solidFill>
                <a:latin typeface="Newsreader"/>
                <a:ea typeface="Newsreader"/>
                <a:cs typeface="Newsreader"/>
              </a:defRPr>
            </a:pPr>
            <a:r>
              <a:rPr sz="1050" b="0" i="0">
                <a:solidFill>
                  <a:srgbClr val="65131F"/>
                </a:solidFill>
                <a:latin typeface="Newsreader"/>
                <a:ea typeface="Newsreader"/>
                <a:cs typeface="Newsreader"/>
              </a:rPr>
              <a:t>Navigation, labels, codes and timing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337D500-C74E-436A-B3D0-5BFCD757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01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F02EE87-931E-4936-BBB3-0ECEC802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0505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Square, not soft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C6E09E1-3916-4DA9-A1A3-CBD350D9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9850"/>
            <a:ext cx="388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Clear rules, paper sheets and hard edges. Avoid excessive rounded cards and glass effects.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ED234FB6-75F1-490F-A9E3-3397CBD1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432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4A7C67C-C800-4449-BC24-FCCF3807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02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A9ACE175-150C-4993-ACC2-6596F342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4325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Motion creates anticipation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0672D9E0-B3A9-4368-A704-93003B1E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48050"/>
            <a:ext cx="388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House dim 360ms. Panels under 300ms. No Trailer 10 to 10.5 seconds. Reveal still and earned.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360BD6EF-80D9-4CF8-8C6C-3530C428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432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6A7BC2CA-4F86-49AB-A7EB-B0CFDBCA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03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5AA1638A-E9F4-4536-AA80-A41B9A0E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8145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Phone first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11DAEA54-95F8-4354-ACA6-CA6DA4A2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86250"/>
            <a:ext cx="388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Strong vertical sequence, one dominant action and 44 pixel touch targets.</a:t>
            </a:r>
          </a:p>
        </p:txBody>
      </p:sp>
      <p:sp>
        <p:nvSpPr>
          <p:cNvPr id="36" name="rule">
            <a:extLst xmlns:a="http://schemas.openxmlformats.org/drawingml/2006/main">
              <a:ext uri="{FF2B5EF4-FFF2-40B4-BE49-F238E27FC236}">
                <a16:creationId xmlns:a16="http://schemas.microsoft.com/office/drawing/2014/main" id="{F9D2F76A-9A60-40A7-A1CD-7587AFFC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67250"/>
            <a:ext cx="432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50C59CC6-6CDD-4A18-BE8A-4D92CDCC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38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04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8285C659-B3BA-4407-9D26-A987E0C7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1965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 i="0">
                <a:solidFill>
                  <a:srgbClr val="080807"/>
                </a:solidFill>
                <a:latin typeface="Barlow Condensed"/>
                <a:ea typeface="Barlow Condensed"/>
                <a:cs typeface="Barlow Condensed"/>
              </a:rPr>
              <a:t>No cinema costume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BE83E6EF-A13F-4359-AD7E-51231846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24450"/>
            <a:ext cx="388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defRPr>
            </a:pPr>
            <a:r>
              <a:rPr sz="1350" b="0" i="0">
                <a:solidFill>
                  <a:srgbClr val="080807"/>
                </a:solidFill>
                <a:latin typeface="Newsreader"/>
                <a:ea typeface="Newsreader"/>
                <a:cs typeface="Newsreader"/>
              </a:rPr>
              <a:t>No popcorn, reels, clapperboards, red carpets, neon or velvet rope decoration.</a:t>
            </a:r>
          </a:p>
        </p:txBody>
      </p:sp>
      <p:sp>
        <p:nvSpPr>
          <p:cNvPr id="40" name="rule">
            <a:extLst xmlns:a="http://schemas.openxmlformats.org/drawingml/2006/main">
              <a:ext uri="{FF2B5EF4-FFF2-40B4-BE49-F238E27FC236}">
                <a16:creationId xmlns:a16="http://schemas.microsoft.com/office/drawing/2014/main" id="{F5A14FCB-11E1-4335-9ABD-B2993DF4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05450"/>
            <a:ext cx="432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63159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559A1AC-92D2-4D3C-B9F4-36E36C2C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125" b="1" i="0">
                <a:solidFill>
                  <a:srgbClr val="E9E0D0"/>
                </a:solidFill>
                <a:latin typeface="Barlow Condensed"/>
                <a:ea typeface="Barlow Condensed"/>
                <a:cs typeface="Barlow Condensed"/>
              </a:rPr>
              <a:t>HOUSE DARK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2EDC5A3-6554-4FB7-9849-16EE3C73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75" b="0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rPr>
              <a:t>BUILDER HANDOFF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75BDC8A-AF76-4A14-91E7-75A65A41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E9FD094-CB0A-461E-A79F-5D6BB6BE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0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rPr>
              <a:t>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D07FBD3-3ECB-44F7-BF6E-D8725330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3600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Protect these rules before extending the UI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69D7B2-CF41-4D8C-B62A-7EF7DBEA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500" b="0" i="0">
                <a:solidFill>
                  <a:srgbClr val="D8CCB8"/>
                </a:solidFill>
                <a:latin typeface="Barlow Condensed"/>
                <a:ea typeface="Barlow Condensed"/>
                <a:cs typeface="Barlow Condensed"/>
              </a:rPr>
              <a:t>New features can add depth. They cannot weaken the unknown.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F2C7387-9F2F-461B-9BEE-4D425F10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200" b="1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rPr>
              <a:t>MUST PRESERVE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528F8F3-8057-4CEB-9440-8A047953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6CB4852-C2A7-458E-9687-E239C697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4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Keep the current title at the server boundary.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0F715986-2DB2-4B81-B038-B8501155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>
              <a:alpha val="1803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5A5DB59-5C4E-4AAE-94BD-342EAB97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2A6A2F5-F5EA-42E5-8AA4-FA3C4F8A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4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Keep social activity sealed until after reveal or watch.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8ACC0903-BE2D-4CF7-A775-7CB264C6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>
              <a:alpha val="1803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C6D8746-DFDD-4AA1-9B7D-8F40B93A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0DAD07E-2A14-4F93-9842-739576AC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4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Keep Tonight focused on one nightly ritual.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72748302-9BE6-4E29-B9B1-F1839AE1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>
              <a:alpha val="1803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9BF7D57-867E-4DD2-9E7E-3369A408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B0DF130-A70D-43DB-ADE7-3E8393DF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4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Give every film a distinct No Trailer visual language.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1C68E00C-B81C-4AC6-865A-F509A402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>
              <a:alpha val="1803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AED8067-E07E-48BA-AC04-31EBA7BE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05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DC7AEFD-4AF4-4523-B0BF-F6DDD289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4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Keep human programming and approval visible.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B336DB31-2BD2-4AD4-AED7-84BEF3C2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>
              <a:alpha val="1803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1B4DDE9-CF82-4418-B8EB-9138DBE2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900" b="1" i="0">
                <a:solidFill>
                  <a:srgbClr val="65131F"/>
                </a:solidFill>
                <a:latin typeface="Barlow Condensed"/>
                <a:ea typeface="Barlow Condensed"/>
                <a:cs typeface="Barlow Condensed"/>
              </a:rPr>
              <a:t>06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297738B-726E-4B68-93B9-8E76E1A1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863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4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Use original or properly licensed material only.</a:t>
            </a: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1A6C33DE-4B84-4FE4-A943-CBC9DA8C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0">
              <a:alpha val="1803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67C8243-47FE-47DA-B77A-0AB37D33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200" b="1" i="0">
                <a:solidFill>
                  <a:srgbClr val="B9A16C"/>
                </a:solidFill>
                <a:latin typeface="Barlow Condensed"/>
                <a:ea typeface="Barlow Condensed"/>
                <a:cs typeface="Barlow Condensed"/>
              </a:rPr>
              <a:t>CAN EXTEND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24FB960-5329-4107-BA2C-4A694486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409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5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Deep linked invitations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Sender receipts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Push delivery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Six word share cards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Circle screenings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Availability data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History import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Creator programmes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defRPr>
            </a:pPr>
            <a:r>
              <a:rPr sz="1725" b="0" i="0">
                <a:solidFill>
                  <a:srgbClr val="E9E0D0"/>
                </a:solidFill>
                <a:latin typeface="Newsreader"/>
                <a:ea typeface="Newsreader"/>
                <a:cs typeface="Newsreader"/>
              </a:rPr>
              <a:t>Analytics and operational alerts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0072DC6-DFFD-4D87-AF5B-F006671E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816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1">
                <a:solidFill>
                  <a:srgbClr val="B9A16C"/>
                </a:solidFill>
                <a:latin typeface="Newsreader"/>
                <a:ea typeface="Newsreader"/>
                <a:cs typeface="Newsreader"/>
              </a:defRPr>
            </a:pPr>
            <a:r>
              <a:rPr sz="1500" b="0" i="1">
                <a:solidFill>
                  <a:srgbClr val="B9A16C"/>
                </a:solidFill>
                <a:latin typeface="Newsreader"/>
                <a:ea typeface="Newsreader"/>
                <a:cs typeface="Newsreader"/>
              </a:rPr>
              <a:t>Do not add a feature if it makes the home screen explain more than the film does.</a:t>
            </a:r>
          </a:p>
        </p:txBody>
      </p:sp>
    </p:spTree>
    <p:extLst>
      <p:ext uri="{BB962C8B-B14F-4D97-AF65-F5344CB8AC3E}">
        <p14:creationId xmlns:p14="http://schemas.microsoft.com/office/powerpoint/2010/main" val="864907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2026-08-10T22:25:05.6570000Z</dcterms:created>
  <dcterms:modified xsi:type="dcterms:W3CDTF">2026-08-10T22:25:05.6580000Z</dcterms:modified>
</coreProperties>
</file>